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c73bb40ff843f0" /><Relationship Type="http://schemas.openxmlformats.org/officeDocument/2006/relationships/extended-properties" Target="/docProps/app.xml" Id="Rfc85f5cc139042b3" /><Relationship Type="http://schemas.openxmlformats.org/officeDocument/2006/relationships/officeDocument" Target="/ppt/presentation.xml" Id="R0ecb8674500e4a9a" /></Relationships>
</file>

<file path=ppt/presentation.xml><?xml version="1.0" encoding="utf-8"?>
<p:presentation xmlns:p="http://schemas.openxmlformats.org/presentationml/2006/main">
  <p:sldMasterIdLst>
    <p:sldMasterId xmlns:r="http://schemas.openxmlformats.org/officeDocument/2006/relationships" id="2147483648" r:id="R66be6a8563054d8c"/>
  </p:sldMasterIdLst>
  <p:notesMasterIdLst>
    <p:notesMasterId xmlns:r="http://schemas.openxmlformats.org/officeDocument/2006/relationships" r:id="R69aecf5dff56481c"/>
  </p:notesMasterIdLst>
  <p:sldIdLst>
    <p:sldId xmlns:r="http://schemas.openxmlformats.org/officeDocument/2006/relationships" id="256" r:id="R15d3ee6223d243e1"/>
    <p:sldId xmlns:r="http://schemas.openxmlformats.org/officeDocument/2006/relationships" id="257" r:id="R83d81bc80a2c4251"/>
    <p:sldId xmlns:r="http://schemas.openxmlformats.org/officeDocument/2006/relationships" id="258" r:id="Rb05a1ff047e2426d"/>
    <p:sldId xmlns:r="http://schemas.openxmlformats.org/officeDocument/2006/relationships" id="259" r:id="R91904f78cbdd4b40"/>
    <p:sldId xmlns:r="http://schemas.openxmlformats.org/officeDocument/2006/relationships" id="260" r:id="Rfcc9a56c6c374d00"/>
    <p:sldId xmlns:r="http://schemas.openxmlformats.org/officeDocument/2006/relationships" id="261" r:id="Rb5e9565a6867469c"/>
    <p:sldId xmlns:r="http://schemas.openxmlformats.org/officeDocument/2006/relationships" id="262" r:id="R0da2f2c4a1004b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7df07b80f14d1f" /><Relationship Type="http://schemas.openxmlformats.org/officeDocument/2006/relationships/slideMaster" Target="/ppt/slideMasters/slideMaster1.xml" Id="R66be6a8563054d8c" /><Relationship Type="http://schemas.openxmlformats.org/officeDocument/2006/relationships/notesMaster" Target="/ppt/notesMasters/notesMaster1.xml" Id="R69aecf5dff56481c" /><Relationship Type="http://schemas.openxmlformats.org/officeDocument/2006/relationships/presProps" Target="/ppt/presProps.xml" Id="R093ebfdaf00c4285" /><Relationship Type="http://schemas.openxmlformats.org/officeDocument/2006/relationships/tableStyles" Target="/ppt/tableStyles.xml" Id="Rc0bc9bd6a75447eb" /><Relationship Type="http://schemas.openxmlformats.org/officeDocument/2006/relationships/slide" Target="/ppt/slides/slide1.xml" Id="R15d3ee6223d243e1" /><Relationship Type="http://schemas.openxmlformats.org/officeDocument/2006/relationships/slide" Target="/ppt/slides/slide2.xml" Id="R83d81bc80a2c4251" /><Relationship Type="http://schemas.openxmlformats.org/officeDocument/2006/relationships/slide" Target="/ppt/slides/slide3.xml" Id="Rb05a1ff047e2426d" /><Relationship Type="http://schemas.openxmlformats.org/officeDocument/2006/relationships/slide" Target="/ppt/slides/slide4.xml" Id="R91904f78cbdd4b40" /><Relationship Type="http://schemas.openxmlformats.org/officeDocument/2006/relationships/slide" Target="/ppt/slides/slide5.xml" Id="Rfcc9a56c6c374d00" /><Relationship Type="http://schemas.openxmlformats.org/officeDocument/2006/relationships/slide" Target="/ppt/slides/slide6.xml" Id="Rb5e9565a6867469c" /><Relationship Type="http://schemas.openxmlformats.org/officeDocument/2006/relationships/slide" Target="/ppt/slides/slide7.xml" Id="R0da2f2c4a1004b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d737a4d20d42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8ddbfac68d4043" /><Relationship Type="http://schemas.openxmlformats.org/officeDocument/2006/relationships/notesMaster" Target="/ppt/notesMasters/notesMaster1.xml" Id="Rff0a1f5fafe046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bd4c36f838a4cf9" /><Relationship Type="http://schemas.openxmlformats.org/officeDocument/2006/relationships/notesMaster" Target="/ppt/notesMasters/notesMaster1.xml" Id="Rdd2a1a20ad2648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e72855e5444cf5" /><Relationship Type="http://schemas.openxmlformats.org/officeDocument/2006/relationships/notesMaster" Target="/ppt/notesMasters/notesMaster1.xml" Id="Re2d5d902a21c41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3f109a926e4257" /><Relationship Type="http://schemas.openxmlformats.org/officeDocument/2006/relationships/notesMaster" Target="/ppt/notesMasters/notesMaster1.xml" Id="R95cf5d57dab74f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cd8543caf344b7" /><Relationship Type="http://schemas.openxmlformats.org/officeDocument/2006/relationships/notesMaster" Target="/ppt/notesMasters/notesMaster1.xml" Id="R220a7c0215254c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1c19ec88f14088" /><Relationship Type="http://schemas.openxmlformats.org/officeDocument/2006/relationships/notesMaster" Target="/ppt/notesMasters/notesMaster1.xml" Id="R9ea2b38198dd48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2b482c912b4937" /><Relationship Type="http://schemas.openxmlformats.org/officeDocument/2006/relationships/notesMaster" Target="/ppt/notesMasters/notesMaster1.xml" Id="Rc55cd64de2e1403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Apertura (45–55 s). El objetivo de esta presentación es mostrar que la tesis ya cuenta con una plataforma experimental y una prueba de concepto reproducible. Todavía no presentamos un ganador: mostramos cómo podremos comparar de forma justa tres familias de solución bajo restricciones reales de latencia.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Problema y pregunta (65–75 s). El feedback acústico no es sólo un pitido: limita cuánta ganancia útil puede entregar un refuerzo sonoro. La tesis compara estrategias por cuatro ejes simultáneos —estabilidad, calidad, latencia y coste— porque optimizar uno solo puede ocultar un sistema impracticable.</a:t>
            </a:r>
          </a:p>
          <a:p xmlns:a="http://schemas.openxmlformats.org/drawingml/2006/main">
            <a:r>
              <a:t/>
            </a:r>
          </a:p>
          <a:p xmlns:a="http://schemas.openxmlformats.org/drawingml/2006/main">
            <a:r>
              <a:t>[Sources]</a:t>
            </a:r>
          </a:p>
          <a:p xmlns:a="http://schemas.openxmlformats.org/drawingml/2006/main">
            <a:r>
              <a:t>- https://pmc.ncbi.nlm.nih.gov/articles/PMC7545262/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Estrategias (70–80 s). Patel representa la línea clásica de identificación del camino acústico mediante una sonda breve. La línea ML considera tres candidatos causales, pero no se atribuyen resultados antes del entrenamiento. El híbrido es una hipótesis de trabajo: separar cancelación estructurada y corrección residual puede ofrecer una mejor relación entre calidad y coste.</a:t>
            </a:r>
          </a:p>
          <a:p xmlns:a="http://schemas.openxmlformats.org/drawingml/2006/main">
            <a:r>
              <a:t/>
            </a:r>
          </a:p>
          <a:p xmlns:a="http://schemas.openxmlformats.org/drawingml/2006/main">
            <a:r>
              <a:t>[Sources]</a:t>
            </a:r>
          </a:p>
          <a:p xmlns:a="http://schemas.openxmlformats.org/drawingml/2006/main">
            <a:r>
              <a:t>- https://pmc.ncbi.nlm.nih.gov/articles/PMC7545262/</a:t>
            </a:r>
          </a:p>
          <a:p xmlns:a="http://schemas.openxmlformats.org/drawingml/2006/main">
            <a:r>
              <a:t>- https://www.repository.cam.ac.uk/bitstreams/5c9a8add-b599-4286-b5cc-53db4f9d13c1/download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Plataforma (70–80 s). Aquí conviene abrir brevemente la aplicación real. Ya están implementados el audio mono a 48 kHz, la máquina de estados, la referencia interna del parlante, la telemetría de ejecución y el laboratorio reproducible. La cifra p99 se muestra en vivo como telemetría; no se presenta todavía como resultado final de Raspberry 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guiada (20–25 s antes de reproducir audio). La misma configuración produce la señal, el lazo, las salidas y las métricas. Luego reproducir en este orden: objetivo, sin procesamiento, Patel manual y Patel ante cambio de camino. Todas las pistas fueron igualadas a −20 dBFS RMS y tienen el mismo inicio temporal. No se genera howling físico durante la exposición.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preliminares (75–90 s). La figura muestra una sola condición determinista de simulación. En ella, Patel manual mejora el SI-SDR aproximadamente 9,7 dB y reduce la componente de feedback cerca de 7,85 dB. El cambio de camino degrada el resultado y hace visible la necesidad de detección y recalibración. El RTF pertenece al simulador Python y no debe confundirse con el p99 del callback JUCE. Estos números demuestran que la cadena funciona; no comparan todavía contra ML ni permiten generalizar.</a:t>
            </a:r>
          </a:p>
          <a:p xmlns:a="http://schemas.openxmlformats.org/drawingml/2006/main">
            <a:r>
              <a:t/>
            </a:r>
          </a:p>
          <a:p xmlns:a="http://schemas.openxmlformats.org/drawingml/2006/main">
            <a:r>
              <a:t>[Sources]</a:t>
            </a:r>
          </a:p>
          <a:p xmlns:a="http://schemas.openxmlformats.org/drawingml/2006/main">
            <a:r>
              <a:t>- file:demo/evidencia/manifest.json</a:t>
            </a:r>
          </a:p>
          <a:p xmlns:a="http://schemas.openxmlformats.org/drawingml/2006/main">
            <a:r>
              <a:t>- file:demo/evidencia/results.csv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(60–70 s). El siguiente trabajo es cerrar los recursos externos, congelar Patel con validación, entrenar y seleccionar el candidato ML, exportarlo a ONNX y medir en Raspberry Pi 4. El resultado científicamente valioso no depende de que ML gane: la contribución es una comparación reproducible que muestre qué se obtiene y qué se paga en estabilidad, calidad, latencia y coste.</a:t>
            </a:r>
          </a:p>
          <a:p xmlns:a="http://schemas.openxmlformats.org/drawingml/2006/main">
            <a:r>
              <a:t/>
            </a:r>
          </a:p>
          <a:p xmlns:a="http://schemas.openxmlformats.org/drawingml/2006/main">
            <a:r>
              <a:t>[Sources]</a:t>
            </a:r>
          </a:p>
          <a:p xmlns:a="http://schemas.openxmlformats.org/drawingml/2006/main">
            <a:r>
              <a:t>- https://www.cstr.ed.ac.uk/downloads/</a:t>
            </a:r>
          </a:p>
          <a:p xmlns:a="http://schemas.openxmlformats.org/drawingml/2006/main">
            <a:r>
              <a:t>- https://zenodo.org/records/1492453/files/114_Paper.pdf</a:t>
            </a:r>
          </a:p>
          <a:p xmlns:a="http://schemas.openxmlformats.org/drawingml/2006/main">
            <a:r>
              <a:t>- https://sigsep.github.io/datasets/musdb.html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4e5bc483ff4c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10bb031d0864d35" /><Relationship Type="http://schemas.openxmlformats.org/officeDocument/2006/relationships/slideLayout" Target="/ppt/slideLayouts/slideLayout1.xml" Id="R9c7d0fd146c84a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7d0fd146c84a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9c402b96c442ba" /><Relationship Type="http://schemas.openxmlformats.org/officeDocument/2006/relationships/notesSlide" Target="/ppt/notesSlides/notesSlide1.xml" Id="Rd9430fbd550a4b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b212a225ab44a4" /><Relationship Type="http://schemas.openxmlformats.org/officeDocument/2006/relationships/notesSlide" Target="/ppt/notesSlides/notesSlide2.xml" Id="Rf20fea5c42b04f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2c48ee08384d83" /><Relationship Type="http://schemas.openxmlformats.org/officeDocument/2006/relationships/notesSlide" Target="/ppt/notesSlides/notesSlide3.xml" Id="R2ae7e1719da949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1beee2b01e4e88" /><Relationship Type="http://schemas.openxmlformats.org/officeDocument/2006/relationships/notesSlide" Target="/ppt/notesSlides/notesSlide4.xml" Id="R7a3dda85d19f43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e8e404a0d54709" /><Relationship Type="http://schemas.openxmlformats.org/officeDocument/2006/relationships/notesSlide" Target="/ppt/notesSlides/notesSlide5.xml" Id="Rf5d306b67e974d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544767333e34c21" /><Relationship Type="http://schemas.openxmlformats.org/officeDocument/2006/relationships/chart" Target="/ppt/slides/charts/chart1.xml" Id="R954532ddbd214938" /><Relationship Type="http://schemas.openxmlformats.org/officeDocument/2006/relationships/notesSlide" Target="/ppt/notesSlides/notesSlide6.xml" Id="R9a919956e00241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1948e9c76394085" /><Relationship Type="http://schemas.openxmlformats.org/officeDocument/2006/relationships/notesSlide" Target="/ppt/notesSlides/notesSlide7.xml" Id="R1ab525794db4414b" /></Relationships>
</file>

<file path=ppt/slides/charts/chart1.xml><?xml version="1.0" encoding="utf-8"?>
<c:chartSpace xmlns:c="http://schemas.openxmlformats.org/drawingml/2006/chart">
  <c:lang val="en-US"/>
  <c:chart>
    <c:plotArea>
      <c:barChart>
        <c:barDir val="col"/>
        <c:grouping val="clustered"/>
        <c:varyColors val="0"/>
        <c:ser>
          <c:idx val="0"/>
          <c:order val="0"/>
          <c:tx>
            <c:v>SI-SDR (dB)</c:v>
          </c:tx>
          <c:spPr>
            <a:solidFill xmlns:a="http://schemas.openxmlformats.org/drawingml/2006/main">
              <a:srgbClr val="1769E0"/>
            </a:solidFill>
          </c:spPr>
          <c:cat>
            <c:strLit>
              <c:ptCount val="3"/>
              <c:pt idx="0">
                <c:v>Sin proceso</c:v>
              </c:pt>
              <c:pt idx="1">
                <c:v>Patel manual</c:v>
              </c:pt>
              <c:pt idx="2">
                <c:v>Patel + cambio</c:v>
              </c:pt>
            </c:strLit>
          </c:cat>
          <c:val>
            <c:numLit>
              <c:formatCode>General</c:formatCode>
              <c:ptCount val="3"/>
              <c:pt idx="0">
                <c:v>15.07</c:v>
              </c:pt>
              <c:pt idx="1">
                <c:v>24.76</c:v>
              </c:pt>
              <c:pt idx="2">
                <c:v>17.48</c:v>
              </c:pt>
            </c:numLit>
          </c:val>
        </c:ser>
        <c:ser>
          <c:idx val="1"/>
          <c:order val="1"/>
          <c:tx>
            <c:v>ΔSNR (dB)</c:v>
          </c:tx>
          <c:spPr>
            <a:solidFill xmlns:a="http://schemas.openxmlformats.org/drawingml/2006/main">
              <a:srgbClr val="55C3F0"/>
            </a:solidFill>
          </c:spPr>
          <c:cat>
            <c:strLit>
              <c:ptCount val="3"/>
              <c:pt idx="0">
                <c:v>Sin proceso</c:v>
              </c:pt>
              <c:pt idx="1">
                <c:v>Patel manual</c:v>
              </c:pt>
              <c:pt idx="2">
                <c:v>Patel + cambio</c:v>
              </c:pt>
            </c:strLit>
          </c:cat>
          <c:val>
            <c:numLit>
              <c:formatCode>General</c:formatCode>
              <c:ptCount val="3"/>
              <c:pt idx="0">
                <c:v>0</c:v>
              </c:pt>
              <c:pt idx="1">
                <c:v>7.85</c:v>
              </c:pt>
              <c:pt idx="2">
                <c:v>7.29</c:v>
              </c:pt>
            </c:numLit>
          </c:val>
        </c:ser>
        <c:ser>
          <c:idx val="2"/>
          <c:order val="2"/>
          <c:tx>
            <c:v>ERLE (dB)</c:v>
          </c:tx>
          <c:spPr>
            <a:solidFill xmlns:a="http://schemas.openxmlformats.org/drawingml/2006/main">
              <a:srgbClr val="16845B"/>
            </a:solidFill>
          </c:spPr>
          <c:cat>
            <c:strLit>
              <c:ptCount val="3"/>
              <c:pt idx="0">
                <c:v>Sin proceso</c:v>
              </c:pt>
              <c:pt idx="1">
                <c:v>Patel manual</c:v>
              </c:pt>
              <c:pt idx="2">
                <c:v>Patel + cambio</c:v>
              </c:pt>
            </c:strLit>
          </c:cat>
          <c:val>
            <c:numLit>
              <c:formatCode>General</c:formatCode>
              <c:ptCount val="3"/>
              <c:pt idx="0">
                <c:v>0</c:v>
              </c:pt>
              <c:pt idx="1">
                <c:v>7.85</c:v>
              </c:pt>
              <c:pt idx="2">
                <c:v>7.29</c:v>
              </c:pt>
            </c:numLit>
          </c:val>
        </c:ser>
        <c:dLbls>
          <c:txPr>
            <a:bodyPr xmlns:a="http://schemas.openxmlformats.org/drawingml/2006/main" anchorCtr="1"/>
            <a:lstStyle xmlns:a="http://schemas.openxmlformats.org/drawingml/2006/main"/>
            <a:p xmlns:a="http://schemas.openxmlformats.org/drawingml/2006/main">
              <a:pPr>
                <a:defRPr sz="1050" b="1">
                  <a:solidFill>
                    <a:srgbClr val="111827"/>
                  </a:solidFil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8EDF3"/>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827"/>
                </a:solidFill>
              </a:defRPr>
            </a:pPr>
          </a:p>
        </c:txPr>
        <c:crossAx val="48672768"/>
      </c:catAx>
      <c:valAx>
        <c:axId val="48672768"/>
        <c:scaling>
          <c:orientation val="minMax"/>
          <c:max val="30"/>
          <c:min val="0"/>
        </c:scaling>
        <c:delete val="0"/>
        <c:axPos val="l"/>
        <c:majorGridlines>
          <c:spPr>
            <a:ln xmlns:a="http://schemas.openxmlformats.org/drawingml/2006/main" w="9525">
              <a:solidFill>
                <a:srgbClr val="E8EDF3"/>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5B6472"/>
                    </a:solidFill>
                  </a:rPr>
                  <a:t>dB</a:t>
                </a:r>
              </a:p>
            </c:rich>
          </c:tx>
          <c:overlay val="0"/>
          <c:txPr>
            <a:bodyPr xmlns:a="http://schemas.openxmlformats.org/drawingml/2006/main" anchorCtr="1"/>
            <a:lstStyle xmlns:a="http://schemas.openxmlformats.org/drawingml/2006/main"/>
            <a:p xmlns:a="http://schemas.openxmlformats.org/drawingml/2006/main">
              <a:pPr>
                <a:defRPr sz="1125">
                  <a:solidFill>
                    <a:srgbClr val="5B6472"/>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B6472"/>
                </a:solidFill>
              </a:defRPr>
            </a:pPr>
          </a:p>
        </c:txPr>
        <c:crossAx val="48650112"/>
        <c:crossBetween val="between"/>
        <c:majorUnit val="5"/>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B6472"/>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834BDBE-B5E3-41F9-BFA0-44334DD07628}"/>
              </a:ext>
            </a:extLst>
          </p:cNvPr>
          <p:cNvSpPr>
            <a:spLocks xmlns:a="http://schemas.openxmlformats.org/drawingml/2006/main" noGrp="1"/>
          </p:cNvSpPr>
          <p:nvPr/>
        </p:nvSpPr>
        <p:spPr>
          <a:xfrm xmlns:a="http://schemas.openxmlformats.org/drawingml/2006/main">
            <a:off x="457200" y="419100"/>
            <a:ext cx="3143250" cy="323850"/>
          </a:xfrm>
          <a:prstGeom xmlns:a="http://schemas.openxmlformats.org/drawingml/2006/main" prst="roundRect">
            <a:avLst>
              <a:gd name="adj" fmla="val 35294"/>
            </a:avLst>
          </a:prstGeom>
          <a:solidFill xmlns:a="http://schemas.openxmlformats.org/drawingml/2006/main">
            <a:srgbClr val="DCEE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C33EA5E-654E-4572-BF49-276348E78983}"/>
              </a:ext>
            </a:extLst>
          </p:cNvPr>
          <p:cNvSpPr>
            <a:spLocks xmlns:a="http://schemas.openxmlformats.org/drawingml/2006/main" noGrp="1"/>
          </p:cNvSpPr>
          <p:nvPr/>
        </p:nvSpPr>
        <p:spPr>
          <a:xfrm xmlns:a="http://schemas.openxmlformats.org/drawingml/2006/main">
            <a:off x="533400" y="419100"/>
            <a:ext cx="2990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69E0"/>
                </a:solidFill>
                <a:latin typeface="Arial"/>
                <a:ea typeface="Arial"/>
                <a:cs typeface="Arial"/>
              </a:defRPr>
            </a:pPr>
            <a:r>
              <a:rPr sz="1200" b="1">
                <a:solidFill>
                  <a:srgbClr val="1769E0"/>
                </a:solidFill>
                <a:latin typeface="Arial"/>
                <a:ea typeface="Arial"/>
                <a:cs typeface="Arial"/>
              </a:rPr>
              <a:t>PRUEBA DE CONCEPTO · ANTEPROYECTO</a:t>
            </a:r>
          </a:p>
        </p:txBody>
      </p:sp>
      <p:sp>
        <p:nvSpPr>
          <p:cNvPr id="3" name="">
            <a:extLst xmlns:a="http://schemas.openxmlformats.org/drawingml/2006/main">
              <a:ext uri="{FF2B5EF4-FFF2-40B4-BE49-F238E27FC236}">
                <a16:creationId xmlns:a16="http://schemas.microsoft.com/office/drawing/2014/main" id="{5BFA0DF7-7E16-4C9C-BE77-0AB8EA21CD72}"/>
              </a:ext>
            </a:extLst>
          </p:cNvPr>
          <p:cNvSpPr>
            <a:spLocks xmlns:a="http://schemas.openxmlformats.org/drawingml/2006/main" noGrp="1"/>
          </p:cNvSpPr>
          <p:nvPr/>
        </p:nvSpPr>
        <p:spPr>
          <a:xfrm xmlns:a="http://schemas.openxmlformats.org/drawingml/2006/main">
            <a:off x="457200" y="1200150"/>
            <a:ext cx="72390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200" b="1">
                <a:solidFill>
                  <a:srgbClr val="111827"/>
                </a:solidFill>
                <a:latin typeface="Arial"/>
                <a:ea typeface="Arial"/>
                <a:cs typeface="Arial"/>
              </a:defRPr>
            </a:pPr>
            <a:r>
              <a:rPr sz="4200" b="1">
                <a:solidFill>
                  <a:srgbClr val="111827"/>
                </a:solidFill>
                <a:latin typeface="Arial"/>
                <a:ea typeface="Arial"/>
                <a:cs typeface="Arial"/>
              </a:rPr>
              <a:t>Cancelación de feedback</a:t>
            </a:r>
          </a:p>
          <a:p xmlns:a="http://schemas.openxmlformats.org/drawingml/2006/main">
            <a:pPr algn="l">
              <a:defRPr sz="4200" b="1">
                <a:solidFill>
                  <a:srgbClr val="111827"/>
                </a:solidFill>
                <a:latin typeface="Arial"/>
                <a:ea typeface="Arial"/>
                <a:cs typeface="Arial"/>
              </a:defRPr>
            </a:pPr>
            <a:r>
              <a:rPr sz="4200" b="1">
                <a:solidFill>
                  <a:srgbClr val="111827"/>
                </a:solidFill>
                <a:latin typeface="Arial"/>
                <a:ea typeface="Arial"/>
                <a:cs typeface="Arial"/>
              </a:rPr>
              <a:t>acústico en tiempo real</a:t>
            </a:r>
          </a:p>
        </p:txBody>
      </p:sp>
      <p:sp>
        <p:nvSpPr>
          <p:cNvPr id="4" name="">
            <a:extLst xmlns:a="http://schemas.openxmlformats.org/drawingml/2006/main">
              <a:ext uri="{FF2B5EF4-FFF2-40B4-BE49-F238E27FC236}">
                <a16:creationId xmlns:a16="http://schemas.microsoft.com/office/drawing/2014/main" id="{088139E9-9307-4F96-A8A4-28EDE75966BB}"/>
              </a:ext>
            </a:extLst>
          </p:cNvPr>
          <p:cNvSpPr>
            <a:spLocks xmlns:a="http://schemas.openxmlformats.org/drawingml/2006/main" noGrp="1"/>
          </p:cNvSpPr>
          <p:nvPr/>
        </p:nvSpPr>
        <p:spPr>
          <a:xfrm xmlns:a="http://schemas.openxmlformats.org/drawingml/2006/main">
            <a:off x="457200" y="2971800"/>
            <a:ext cx="7334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0">
                <a:solidFill>
                  <a:srgbClr val="5B6472"/>
                </a:solidFill>
                <a:latin typeface="Arial"/>
                <a:ea typeface="Arial"/>
                <a:cs typeface="Arial"/>
              </a:defRPr>
            </a:pPr>
            <a:r>
              <a:rPr sz="2025" b="0">
                <a:solidFill>
                  <a:srgbClr val="5B6472"/>
                </a:solidFill>
                <a:latin typeface="Arial"/>
                <a:ea typeface="Arial"/>
                <a:cs typeface="Arial"/>
              </a:rPr>
              <a:t>Filtros adaptativos, aprendizaje profundo e híbridos</a:t>
            </a:r>
          </a:p>
          <a:p xmlns:a="http://schemas.openxmlformats.org/drawingml/2006/main">
            <a:pPr algn="l">
              <a:defRPr sz="2025" b="0">
                <a:solidFill>
                  <a:srgbClr val="5B6472"/>
                </a:solidFill>
                <a:latin typeface="Arial"/>
                <a:ea typeface="Arial"/>
                <a:cs typeface="Arial"/>
              </a:defRPr>
            </a:pPr>
            <a:r>
              <a:rPr sz="2025" b="0">
                <a:solidFill>
                  <a:srgbClr val="5B6472"/>
                </a:solidFill>
                <a:latin typeface="Arial"/>
                <a:ea typeface="Arial"/>
                <a:cs typeface="Arial"/>
              </a:rPr>
              <a:t>bajo el mismo presupuesto de latencia</a:t>
            </a:r>
          </a:p>
        </p:txBody>
      </p:sp>
      <p:sp>
        <p:nvSpPr>
          <p:cNvPr id="5" name="">
            <a:extLst xmlns:a="http://schemas.openxmlformats.org/drawingml/2006/main">
              <a:ext uri="{FF2B5EF4-FFF2-40B4-BE49-F238E27FC236}">
                <a16:creationId xmlns:a16="http://schemas.microsoft.com/office/drawing/2014/main" id="{08C9A5E7-7C1E-4340-9F1D-2CCFC59B000B}"/>
              </a:ext>
            </a:extLst>
          </p:cNvPr>
          <p:cNvSpPr>
            <a:spLocks xmlns:a="http://schemas.openxmlformats.org/drawingml/2006/main" noGrp="1"/>
          </p:cNvSpPr>
          <p:nvPr/>
        </p:nvSpPr>
        <p:spPr>
          <a:xfrm xmlns:a="http://schemas.openxmlformats.org/drawingml/2006/main">
            <a:off x="8420100" y="1009650"/>
            <a:ext cx="2857500" cy="4095750"/>
          </a:xfrm>
          <a:prstGeom xmlns:a="http://schemas.openxmlformats.org/drawingml/2006/main" prst="roundRect">
            <a:avLst>
              <a:gd name="adj" fmla="val 4000"/>
            </a:avLst>
          </a:prstGeom>
          <a:solidFill xmlns:a="http://schemas.openxmlformats.org/drawingml/2006/main">
            <a:srgbClr val="F3F5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1C31F63-8219-4F61-A1C1-8D8EB4D12374}"/>
              </a:ext>
            </a:extLst>
          </p:cNvPr>
          <p:cNvSpPr>
            <a:spLocks xmlns:a="http://schemas.openxmlformats.org/drawingml/2006/main" noGrp="1"/>
          </p:cNvSpPr>
          <p:nvPr/>
        </p:nvSpPr>
        <p:spPr>
          <a:xfrm xmlns:a="http://schemas.openxmlformats.org/drawingml/2006/main">
            <a:off x="9201150" y="1485900"/>
            <a:ext cx="1295400" cy="1295400"/>
          </a:xfrm>
          <a:prstGeom xmlns:a="http://schemas.openxmlformats.org/drawingml/2006/main" prst="ellipse">
            <a:avLst/>
          </a:prstGeom>
          <a:solidFill xmlns:a="http://schemas.openxmlformats.org/drawingml/2006/main">
            <a:srgbClr val="1769E0"/>
          </a:solidFill>
          <a:ln xmlns:a="http://schemas.openxmlformats.org/drawingml/2006/main" w="0">
            <a:solidFill>
              <a:srgbClr val="1769E0"/>
            </a:solidFill>
            <a:prstDash val="solid"/>
          </a:ln>
        </p:spPr>
      </p:sp>
      <p:sp>
        <p:nvSpPr>
          <p:cNvPr id="7" name="">
            <a:extLst xmlns:a="http://schemas.openxmlformats.org/drawingml/2006/main">
              <a:ext uri="{FF2B5EF4-FFF2-40B4-BE49-F238E27FC236}">
                <a16:creationId xmlns:a16="http://schemas.microsoft.com/office/drawing/2014/main" id="{92561CCD-8731-428D-87BB-D95E43BBB848}"/>
              </a:ext>
            </a:extLst>
          </p:cNvPr>
          <p:cNvSpPr>
            <a:spLocks xmlns:a="http://schemas.openxmlformats.org/drawingml/2006/main" noGrp="1"/>
          </p:cNvSpPr>
          <p:nvPr/>
        </p:nvSpPr>
        <p:spPr>
          <a:xfrm xmlns:a="http://schemas.openxmlformats.org/drawingml/2006/main">
            <a:off x="9201150" y="1485900"/>
            <a:ext cx="12954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FFFFF"/>
                </a:solidFill>
                <a:latin typeface="Arial"/>
                <a:ea typeface="Arial"/>
                <a:cs typeface="Arial"/>
              </a:defRPr>
            </a:pPr>
            <a:r>
              <a:rPr sz="2550" b="1">
                <a:solidFill>
                  <a:srgbClr val="FFFFFF"/>
                </a:solidFill>
                <a:latin typeface="Arial"/>
                <a:ea typeface="Arial"/>
                <a:cs typeface="Arial"/>
              </a:rPr>
              <a:t>AFC</a:t>
            </a:r>
          </a:p>
        </p:txBody>
      </p:sp>
      <p:sp>
        <p:nvSpPr>
          <p:cNvPr id="8" name="">
            <a:extLst xmlns:a="http://schemas.openxmlformats.org/drawingml/2006/main">
              <a:ext uri="{FF2B5EF4-FFF2-40B4-BE49-F238E27FC236}">
                <a16:creationId xmlns:a16="http://schemas.microsoft.com/office/drawing/2014/main" id="{F2F9410C-E4AF-4D05-9B1F-AFCE7B9584C4}"/>
              </a:ext>
            </a:extLst>
          </p:cNvPr>
          <p:cNvSpPr>
            <a:spLocks xmlns:a="http://schemas.openxmlformats.org/drawingml/2006/main" noGrp="1"/>
          </p:cNvSpPr>
          <p:nvPr/>
        </p:nvSpPr>
        <p:spPr>
          <a:xfrm xmlns:a="http://schemas.openxmlformats.org/drawingml/2006/main">
            <a:off x="8782050" y="3105150"/>
            <a:ext cx="2114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111827"/>
                </a:solidFill>
                <a:latin typeface="Arial"/>
                <a:ea typeface="Arial"/>
                <a:cs typeface="Arial"/>
              </a:defRPr>
            </a:pPr>
            <a:r>
              <a:rPr sz="2550" b="1">
                <a:solidFill>
                  <a:srgbClr val="111827"/>
                </a:solidFill>
                <a:latin typeface="Arial"/>
                <a:ea typeface="Arial"/>
                <a:cs typeface="Arial"/>
              </a:rPr>
              <a:t>48 kHz</a:t>
            </a:r>
          </a:p>
        </p:txBody>
      </p:sp>
      <p:sp>
        <p:nvSpPr>
          <p:cNvPr id="9" name="">
            <a:extLst xmlns:a="http://schemas.openxmlformats.org/drawingml/2006/main">
              <a:ext uri="{FF2B5EF4-FFF2-40B4-BE49-F238E27FC236}">
                <a16:creationId xmlns:a16="http://schemas.microsoft.com/office/drawing/2014/main" id="{109B76B4-512B-425F-B376-FD58DF054C7B}"/>
              </a:ext>
            </a:extLst>
          </p:cNvPr>
          <p:cNvSpPr>
            <a:spLocks xmlns:a="http://schemas.openxmlformats.org/drawingml/2006/main" noGrp="1"/>
          </p:cNvSpPr>
          <p:nvPr/>
        </p:nvSpPr>
        <p:spPr>
          <a:xfrm xmlns:a="http://schemas.openxmlformats.org/drawingml/2006/main">
            <a:off x="8686800" y="3581400"/>
            <a:ext cx="2305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5B6472"/>
                </a:solidFill>
                <a:latin typeface="Arial"/>
                <a:ea typeface="Arial"/>
                <a:cs typeface="Arial"/>
              </a:defRPr>
            </a:pPr>
            <a:r>
              <a:rPr sz="1350" b="0">
                <a:solidFill>
                  <a:srgbClr val="5B6472"/>
                </a:solidFill>
                <a:latin typeface="Arial"/>
                <a:ea typeface="Arial"/>
                <a:cs typeface="Arial"/>
              </a:rPr>
              <a:t>mono · bloques 64/128/256</a:t>
            </a:r>
          </a:p>
        </p:txBody>
      </p:sp>
      <p:sp>
        <p:nvSpPr>
          <p:cNvPr id="10" name="">
            <a:extLst xmlns:a="http://schemas.openxmlformats.org/drawingml/2006/main">
              <a:ext uri="{FF2B5EF4-FFF2-40B4-BE49-F238E27FC236}">
                <a16:creationId xmlns:a16="http://schemas.microsoft.com/office/drawing/2014/main" id="{6B481777-4604-4725-99AE-62BC3655CB0A}"/>
              </a:ext>
            </a:extLst>
          </p:cNvPr>
          <p:cNvSpPr>
            <a:spLocks xmlns:a="http://schemas.openxmlformats.org/drawingml/2006/main" noGrp="1"/>
          </p:cNvSpPr>
          <p:nvPr/>
        </p:nvSpPr>
        <p:spPr>
          <a:xfrm xmlns:a="http://schemas.openxmlformats.org/drawingml/2006/main">
            <a:off x="8782050" y="4400550"/>
            <a:ext cx="211455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9E4C0EE-20DA-401D-90A9-411F3004BA16}"/>
              </a:ext>
            </a:extLst>
          </p:cNvPr>
          <p:cNvSpPr>
            <a:spLocks xmlns:a="http://schemas.openxmlformats.org/drawingml/2006/main" noGrp="1"/>
          </p:cNvSpPr>
          <p:nvPr/>
        </p:nvSpPr>
        <p:spPr>
          <a:xfrm xmlns:a="http://schemas.openxmlformats.org/drawingml/2006/main">
            <a:off x="8858250" y="4400550"/>
            <a:ext cx="1962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69E0"/>
                </a:solidFill>
                <a:latin typeface="Arial"/>
                <a:ea typeface="Arial"/>
                <a:cs typeface="Arial"/>
              </a:defRPr>
            </a:pPr>
            <a:r>
              <a:rPr sz="1200" b="1">
                <a:solidFill>
                  <a:srgbClr val="1769E0"/>
                </a:solidFill>
                <a:latin typeface="Arial"/>
                <a:ea typeface="Arial"/>
                <a:cs typeface="Arial"/>
              </a:rPr>
              <a:t>SIMULACIÓN + JUCE</a:t>
            </a:r>
          </a:p>
        </p:txBody>
      </p:sp>
      <p:sp>
        <p:nvSpPr>
          <p:cNvPr id="12" name="">
            <a:extLst xmlns:a="http://schemas.openxmlformats.org/drawingml/2006/main">
              <a:ext uri="{FF2B5EF4-FFF2-40B4-BE49-F238E27FC236}">
                <a16:creationId xmlns:a16="http://schemas.microsoft.com/office/drawing/2014/main" id="{34483F01-8EE4-4521-9F88-4B3F2AFEFA15}"/>
              </a:ext>
            </a:extLst>
          </p:cNvPr>
          <p:cNvSpPr>
            <a:spLocks xmlns:a="http://schemas.openxmlformats.org/drawingml/2006/main" noGrp="1"/>
          </p:cNvSpPr>
          <p:nvPr/>
        </p:nvSpPr>
        <p:spPr>
          <a:xfrm xmlns:a="http://schemas.openxmlformats.org/drawingml/2006/main">
            <a:off x="457200" y="59626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a:solidFill>
                  <a:srgbClr val="111827"/>
                </a:solidFill>
                <a:latin typeface="Arial"/>
                <a:ea typeface="Arial"/>
                <a:cs typeface="Arial"/>
              </a:defRPr>
            </a:pPr>
            <a:r>
              <a:rPr sz="1500" b="1">
                <a:solidFill>
                  <a:srgbClr val="111827"/>
                </a:solidFill>
                <a:latin typeface="Arial"/>
                <a:ea typeface="Arial"/>
                <a:cs typeface="Arial"/>
              </a:rPr>
              <a:t>Matías Arancibia · 2026</a:t>
            </a:r>
          </a:p>
        </p:txBody>
      </p:sp>
      <p:sp>
        <p:nvSpPr>
          <p:cNvPr id="13" name="">
            <a:extLst xmlns:a="http://schemas.openxmlformats.org/drawingml/2006/main">
              <a:ext uri="{FF2B5EF4-FFF2-40B4-BE49-F238E27FC236}">
                <a16:creationId xmlns:a16="http://schemas.microsoft.com/office/drawing/2014/main" id="{00D348CC-0A04-462D-A1CD-55DD896AE290}"/>
              </a:ext>
            </a:extLst>
          </p:cNvPr>
          <p:cNvSpPr>
            <a:spLocks xmlns:a="http://schemas.openxmlformats.org/drawingml/2006/main" noGrp="1"/>
          </p:cNvSpPr>
          <p:nvPr/>
        </p:nvSpPr>
        <p:spPr>
          <a:xfrm xmlns:a="http://schemas.openxmlformats.org/drawingml/2006/main">
            <a:off x="457200" y="62865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B6472"/>
                </a:solidFill>
                <a:latin typeface="Arial"/>
                <a:ea typeface="Arial"/>
                <a:cs typeface="Arial"/>
              </a:defRPr>
            </a:pPr>
            <a:r>
              <a:rPr sz="1200" b="0">
                <a:solidFill>
                  <a:srgbClr val="5B6472"/>
                </a:solidFill>
                <a:latin typeface="Arial"/>
                <a:ea typeface="Arial"/>
                <a:cs typeface="Arial"/>
              </a:rPr>
              <a:t>Universidad Austral de Chile</a:t>
            </a:r>
          </a:p>
        </p:txBody>
      </p:sp>
    </p:spTree>
    <p:extLst>
      <p:ext uri="{BB962C8B-B14F-4D97-AF65-F5344CB8AC3E}">
        <p14:creationId xmlns:p14="http://schemas.microsoft.com/office/powerpoint/2010/main" val="10928424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F128370-F9AE-4448-A0F4-67EE4FFA363E}"/>
              </a:ext>
            </a:extLst>
          </p:cNvPr>
          <p:cNvSpPr>
            <a:spLocks xmlns:a="http://schemas.openxmlformats.org/drawingml/2006/main" noGrp="1"/>
          </p:cNvSpPr>
          <p:nvPr/>
        </p:nvSpPr>
        <p:spPr>
          <a:xfrm xmlns:a="http://schemas.openxmlformats.org/drawingml/2006/main">
            <a:off x="552450" y="2286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827"/>
                </a:solidFill>
                <a:latin typeface="Arial"/>
                <a:ea typeface="Arial"/>
                <a:cs typeface="Arial"/>
              </a:defRPr>
            </a:pPr>
            <a:r>
              <a:rPr sz="2850" b="1">
                <a:solidFill>
                  <a:srgbClr val="111827"/>
                </a:solidFill>
                <a:latin typeface="Arial"/>
                <a:ea typeface="Arial"/>
                <a:cs typeface="Arial"/>
              </a:rPr>
              <a:t>El feedback obliga a elegir entre ganancia, estabilidad y calidad</a:t>
            </a:r>
          </a:p>
        </p:txBody>
      </p:sp>
      <p:sp>
        <p:nvSpPr>
          <p:cNvPr id="2" name="">
            <a:extLst xmlns:a="http://schemas.openxmlformats.org/drawingml/2006/main">
              <a:ext uri="{FF2B5EF4-FFF2-40B4-BE49-F238E27FC236}">
                <a16:creationId xmlns:a16="http://schemas.microsoft.com/office/drawing/2014/main" id="{7DB72B9B-0E49-4A57-B306-6CB0B89A781A}"/>
              </a:ext>
            </a:extLst>
          </p:cNvPr>
          <p:cNvSpPr>
            <a:spLocks xmlns:a="http://schemas.openxmlformats.org/drawingml/2006/main" noGrp="1"/>
          </p:cNvSpPr>
          <p:nvPr/>
        </p:nvSpPr>
        <p:spPr>
          <a:xfrm xmlns:a="http://schemas.openxmlformats.org/drawingml/2006/main">
            <a:off x="457200" y="1323975"/>
            <a:ext cx="11277600" cy="19050"/>
          </a:xfrm>
          <a:prstGeom xmlns:a="http://schemas.openxmlformats.org/drawingml/2006/main" prst="rect">
            <a:avLst/>
          </a:prstGeom>
          <a:solidFill xmlns:a="http://schemas.openxmlformats.org/drawingml/2006/main">
            <a:srgbClr val="E8EDF3"/>
          </a:solidFill>
          <a:ln xmlns:a="http://schemas.openxmlformats.org/drawingml/2006/main" w="0">
            <a:solidFill>
              <a:srgbClr val="E8EDF3"/>
            </a:solidFill>
            <a:prstDash val="solid"/>
          </a:ln>
        </p:spPr>
      </p:sp>
      <p:sp>
        <p:nvSpPr>
          <p:cNvPr id="3" name="">
            <a:extLst xmlns:a="http://schemas.openxmlformats.org/drawingml/2006/main">
              <a:ext uri="{FF2B5EF4-FFF2-40B4-BE49-F238E27FC236}">
                <a16:creationId xmlns:a16="http://schemas.microsoft.com/office/drawing/2014/main" id="{1ACA0B4C-2250-4B1E-B453-C3E514FC2196}"/>
              </a:ext>
            </a:extLst>
          </p:cNvPr>
          <p:cNvSpPr>
            <a:spLocks xmlns:a="http://schemas.openxmlformats.org/drawingml/2006/main" noGrp="1"/>
          </p:cNvSpPr>
          <p:nvPr/>
        </p:nvSpPr>
        <p:spPr>
          <a:xfrm xmlns:a="http://schemas.openxmlformats.org/drawingml/2006/main">
            <a:off x="1118235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0">
                <a:solidFill>
                  <a:srgbClr val="5B6472"/>
                </a:solidFill>
                <a:latin typeface="Arial"/>
                <a:ea typeface="Arial"/>
                <a:cs typeface="Arial"/>
              </a:defRPr>
            </a:pPr>
            <a:r>
              <a:rPr sz="1200" b="0">
                <a:solidFill>
                  <a:srgbClr val="5B6472"/>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A2EC21B3-F94B-4F81-9D90-EDA1A1B1467E}"/>
              </a:ext>
            </a:extLst>
          </p:cNvPr>
          <p:cNvSpPr>
            <a:spLocks xmlns:a="http://schemas.openxmlformats.org/drawingml/2006/main" noGrp="1"/>
          </p:cNvSpPr>
          <p:nvPr/>
        </p:nvSpPr>
        <p:spPr>
          <a:xfrm xmlns:a="http://schemas.openxmlformats.org/drawingml/2006/main">
            <a:off x="666750" y="2095500"/>
            <a:ext cx="2000250" cy="1066800"/>
          </a:xfrm>
          <a:prstGeom xmlns:a="http://schemas.openxmlformats.org/drawingml/2006/main" prst="roundRect">
            <a:avLst>
              <a:gd name="adj" fmla="val 10714"/>
            </a:avLst>
          </a:prstGeom>
          <a:solidFill xmlns:a="http://schemas.openxmlformats.org/drawingml/2006/main">
            <a:srgbClr val="DCEEFF"/>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71F9539-5CA3-4613-8D94-BD11797E42CD}"/>
              </a:ext>
            </a:extLst>
          </p:cNvPr>
          <p:cNvSpPr>
            <a:spLocks xmlns:a="http://schemas.openxmlformats.org/drawingml/2006/main" noGrp="1"/>
          </p:cNvSpPr>
          <p:nvPr/>
        </p:nvSpPr>
        <p:spPr>
          <a:xfrm xmlns:a="http://schemas.openxmlformats.org/drawingml/2006/main">
            <a:off x="3714750" y="2095500"/>
            <a:ext cx="2095500" cy="1066800"/>
          </a:xfrm>
          <a:prstGeom xmlns:a="http://schemas.openxmlformats.org/drawingml/2006/main" prst="roundRect">
            <a:avLst>
              <a:gd name="adj" fmla="val 10714"/>
            </a:avLst>
          </a:prstGeom>
          <a:solidFill xmlns:a="http://schemas.openxmlformats.org/drawingml/2006/main">
            <a:srgbClr val="F3F5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B444AE4-925A-400E-B217-1C5FF35F2E54}"/>
              </a:ext>
            </a:extLst>
          </p:cNvPr>
          <p:cNvSpPr>
            <a:spLocks xmlns:a="http://schemas.openxmlformats.org/drawingml/2006/main" noGrp="1"/>
          </p:cNvSpPr>
          <p:nvPr/>
        </p:nvSpPr>
        <p:spPr>
          <a:xfrm xmlns:a="http://schemas.openxmlformats.org/drawingml/2006/main">
            <a:off x="6858000" y="2095500"/>
            <a:ext cx="2000250" cy="1066800"/>
          </a:xfrm>
          <a:prstGeom xmlns:a="http://schemas.openxmlformats.org/drawingml/2006/main" prst="roundRect">
            <a:avLst>
              <a:gd name="adj" fmla="val 10714"/>
            </a:avLst>
          </a:prstGeom>
          <a:solidFill xmlns:a="http://schemas.openxmlformats.org/drawingml/2006/main">
            <a:srgbClr val="DCE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64455B0-5EB8-4A75-9B5F-E7A50FB00859}"/>
              </a:ext>
            </a:extLst>
          </p:cNvPr>
          <p:cNvSpPr>
            <a:spLocks xmlns:a="http://schemas.openxmlformats.org/drawingml/2006/main" noGrp="1"/>
          </p:cNvSpPr>
          <p:nvPr/>
        </p:nvSpPr>
        <p:spPr>
          <a:xfrm xmlns:a="http://schemas.openxmlformats.org/drawingml/2006/main">
            <a:off x="9620250" y="2095500"/>
            <a:ext cx="1809750" cy="1066800"/>
          </a:xfrm>
          <a:prstGeom xmlns:a="http://schemas.openxmlformats.org/drawingml/2006/main" prst="roundRect">
            <a:avLst>
              <a:gd name="adj" fmla="val 10714"/>
            </a:avLst>
          </a:prstGeom>
          <a:solidFill xmlns:a="http://schemas.openxmlformats.org/drawingml/2006/main">
            <a:srgbClr val="FFF1DE"/>
          </a:solidFill>
          <a:ln xmlns:a="http://schemas.openxmlformats.org/drawingml/2006/main" w="0">
            <a:noFill/>
            <a:prstDash val="solid"/>
          </a:ln>
        </p:spPr>
      </p:sp>
      <p:cxnSp>
        <p:nvCxnSpPr>
          <p:cNvPr id="27" name=""/>
          <p:cNvCxnSpPr>
            <a:stCxn xmlns:a="http://schemas.openxmlformats.org/drawingml/2006/main" id="4" idx="3"/>
            <a:endCxn xmlns:a="http://schemas.openxmlformats.org/drawingml/2006/main" id="5" idx="1"/>
          </p:cNvCxnSpPr>
          <p:nvPr/>
        </p:nvCxnSpPr>
        <p:spPr>
          <a:xfrm xmlns:a="http://schemas.openxmlformats.org/drawingml/2006/main">
            <a:off x="2667000" y="2628900"/>
            <a:ext cx="1047750" cy="0"/>
          </a:xfrm>
          <a:prstGeom xmlns:a="http://schemas.openxmlformats.org/drawingml/2006/main" prst="straightConnector1">
            <a:avLst/>
          </a:prstGeom>
          <a:ln xmlns:a="http://schemas.openxmlformats.org/drawingml/2006/main" w="38100">
            <a:solidFill>
              <a:srgbClr val="1769E0"/>
            </a:solidFill>
            <a:prstDash val="solid"/>
            <a:tailEnd type="arrow" w="med" len="med"/>
          </a:ln>
        </p:spPr>
      </p:cxnSp>
      <p:cxnSp>
        <p:nvCxnSpPr>
          <p:cNvPr id="28" name=""/>
          <p:cNvCxnSpPr>
            <a:stCxn xmlns:a="http://schemas.openxmlformats.org/drawingml/2006/main" id="5" idx="3"/>
            <a:endCxn xmlns:a="http://schemas.openxmlformats.org/drawingml/2006/main" id="6" idx="1"/>
          </p:cNvCxnSpPr>
          <p:nvPr/>
        </p:nvCxnSpPr>
        <p:spPr>
          <a:xfrm xmlns:a="http://schemas.openxmlformats.org/drawingml/2006/main">
            <a:off x="5810250" y="2628900"/>
            <a:ext cx="1047750" cy="0"/>
          </a:xfrm>
          <a:prstGeom xmlns:a="http://schemas.openxmlformats.org/drawingml/2006/main" prst="straightConnector1">
            <a:avLst/>
          </a:prstGeom>
          <a:ln xmlns:a="http://schemas.openxmlformats.org/drawingml/2006/main" w="38100">
            <a:solidFill>
              <a:srgbClr val="1769E0"/>
            </a:solidFill>
            <a:prstDash val="solid"/>
            <a:tailEnd type="arrow" w="med" len="med"/>
          </a:ln>
        </p:spPr>
      </p:cxnSp>
      <p:cxnSp>
        <p:nvCxnSpPr>
          <p:cNvPr id="29" name=""/>
          <p:cNvCxnSpPr>
            <a:stCxn xmlns:a="http://schemas.openxmlformats.org/drawingml/2006/main" id="6" idx="3"/>
            <a:endCxn xmlns:a="http://schemas.openxmlformats.org/drawingml/2006/main" id="7" idx="1"/>
          </p:cNvCxnSpPr>
          <p:nvPr/>
        </p:nvCxnSpPr>
        <p:spPr>
          <a:xfrm xmlns:a="http://schemas.openxmlformats.org/drawingml/2006/main">
            <a:off x="8858250" y="2628900"/>
            <a:ext cx="762000" cy="0"/>
          </a:xfrm>
          <a:prstGeom xmlns:a="http://schemas.openxmlformats.org/drawingml/2006/main" prst="straightConnector1">
            <a:avLst/>
          </a:prstGeom>
          <a:ln xmlns:a="http://schemas.openxmlformats.org/drawingml/2006/main" w="38100">
            <a:solidFill>
              <a:srgbClr val="C57816"/>
            </a:solidFill>
            <a:prstDash val="solid"/>
            <a:tailEnd type="arrow" w="med" len="med"/>
          </a:ln>
        </p:spPr>
      </p:cxnSp>
      <p:cxnSp>
        <p:nvCxnSpPr>
          <p:cNvPr id="30" name=""/>
          <p:cNvCxnSpPr>
            <a:stCxn xmlns:a="http://schemas.openxmlformats.org/drawingml/2006/main" id="7" idx="2"/>
            <a:endCxn xmlns:a="http://schemas.openxmlformats.org/drawingml/2006/main" id="4" idx="2"/>
          </p:cNvCxnSpPr>
          <p:nvPr/>
        </p:nvCxnSpPr>
        <p:spPr>
          <a:xfrm xmlns:a="http://schemas.openxmlformats.org/drawingml/2006/main" flipH="1">
            <a:off x="1666875" y="3162300"/>
            <a:ext cx="8858250" cy="0"/>
          </a:xfrm>
          <a:prstGeom xmlns:a="http://schemas.openxmlformats.org/drawingml/2006/main" prst="curvedConnector2">
            <a:avLst/>
          </a:prstGeom>
          <a:ln xmlns:a="http://schemas.openxmlformats.org/drawingml/2006/main" w="38100">
            <a:solidFill>
              <a:srgbClr val="C84040"/>
            </a:solidFill>
            <a:prstDash val="dash"/>
            <a:tailEnd type="arrow" w="med" len="med"/>
          </a:ln>
        </p:spPr>
      </p:cxnSp>
      <p:sp>
        <p:nvSpPr>
          <p:cNvPr id="12" name="">
            <a:extLst xmlns:a="http://schemas.openxmlformats.org/drawingml/2006/main">
              <a:ext uri="{FF2B5EF4-FFF2-40B4-BE49-F238E27FC236}">
                <a16:creationId xmlns:a16="http://schemas.microsoft.com/office/drawing/2014/main" id="{AE6F2455-1A85-44DA-AAF7-D2EB3AD24769}"/>
              </a:ext>
            </a:extLst>
          </p:cNvPr>
          <p:cNvSpPr>
            <a:spLocks xmlns:a="http://schemas.openxmlformats.org/drawingml/2006/main" noGrp="1"/>
          </p:cNvSpPr>
          <p:nvPr/>
        </p:nvSpPr>
        <p:spPr>
          <a:xfrm xmlns:a="http://schemas.openxmlformats.org/drawingml/2006/main">
            <a:off x="819150" y="2276475"/>
            <a:ext cx="1695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11827"/>
                </a:solidFill>
                <a:latin typeface="Arial"/>
                <a:ea typeface="Arial"/>
                <a:cs typeface="Arial"/>
              </a:defRPr>
            </a:pPr>
            <a:r>
              <a:rPr sz="1875" b="1">
                <a:solidFill>
                  <a:srgbClr val="111827"/>
                </a:solidFill>
                <a:latin typeface="Arial"/>
                <a:ea typeface="Arial"/>
                <a:cs typeface="Arial"/>
              </a:rPr>
              <a:t>Micrófono</a:t>
            </a:r>
          </a:p>
        </p:txBody>
      </p:sp>
      <p:sp>
        <p:nvSpPr>
          <p:cNvPr id="13" name="">
            <a:extLst xmlns:a="http://schemas.openxmlformats.org/drawingml/2006/main">
              <a:ext uri="{FF2B5EF4-FFF2-40B4-BE49-F238E27FC236}">
                <a16:creationId xmlns:a16="http://schemas.microsoft.com/office/drawing/2014/main" id="{0BB52AFE-E1ED-4F5D-ACE4-AC4BEB8900DF}"/>
              </a:ext>
            </a:extLst>
          </p:cNvPr>
          <p:cNvSpPr>
            <a:spLocks xmlns:a="http://schemas.openxmlformats.org/drawingml/2006/main" noGrp="1"/>
          </p:cNvSpPr>
          <p:nvPr/>
        </p:nvSpPr>
        <p:spPr>
          <a:xfrm xmlns:a="http://schemas.openxmlformats.org/drawingml/2006/main">
            <a:off x="3867150" y="2219325"/>
            <a:ext cx="17907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1827"/>
                </a:solidFill>
                <a:latin typeface="Arial"/>
                <a:ea typeface="Arial"/>
                <a:cs typeface="Arial"/>
              </a:defRPr>
            </a:pPr>
            <a:r>
              <a:rPr sz="1650" b="1">
                <a:solidFill>
                  <a:srgbClr val="111827"/>
                </a:solidFill>
                <a:latin typeface="Arial"/>
                <a:ea typeface="Arial"/>
                <a:cs typeface="Arial"/>
              </a:rPr>
              <a:t>Ganancia +</a:t>
            </a:r>
          </a:p>
          <a:p xmlns:a="http://schemas.openxmlformats.org/drawingml/2006/main">
            <a:pPr algn="ctr">
              <a:defRPr sz="1650" b="1">
                <a:solidFill>
                  <a:srgbClr val="111827"/>
                </a:solidFill>
                <a:latin typeface="Arial"/>
                <a:ea typeface="Arial"/>
                <a:cs typeface="Arial"/>
              </a:defRPr>
            </a:pPr>
            <a:r>
              <a:rPr sz="1650" b="1">
                <a:solidFill>
                  <a:srgbClr val="111827"/>
                </a:solidFill>
                <a:latin typeface="Arial"/>
                <a:ea typeface="Arial"/>
                <a:cs typeface="Arial"/>
              </a:rPr>
              <a:t>procesamiento</a:t>
            </a:r>
          </a:p>
        </p:txBody>
      </p:sp>
      <p:sp>
        <p:nvSpPr>
          <p:cNvPr id="14" name="">
            <a:extLst xmlns:a="http://schemas.openxmlformats.org/drawingml/2006/main">
              <a:ext uri="{FF2B5EF4-FFF2-40B4-BE49-F238E27FC236}">
                <a16:creationId xmlns:a16="http://schemas.microsoft.com/office/drawing/2014/main" id="{AE3BF4EF-C37F-4456-931B-0194F4DABD4A}"/>
              </a:ext>
            </a:extLst>
          </p:cNvPr>
          <p:cNvSpPr>
            <a:spLocks xmlns:a="http://schemas.openxmlformats.org/drawingml/2006/main" noGrp="1"/>
          </p:cNvSpPr>
          <p:nvPr/>
        </p:nvSpPr>
        <p:spPr>
          <a:xfrm xmlns:a="http://schemas.openxmlformats.org/drawingml/2006/main">
            <a:off x="7010400" y="2276475"/>
            <a:ext cx="1695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111827"/>
                </a:solidFill>
                <a:latin typeface="Arial"/>
                <a:ea typeface="Arial"/>
                <a:cs typeface="Arial"/>
              </a:defRPr>
            </a:pPr>
            <a:r>
              <a:rPr sz="1875" b="1">
                <a:solidFill>
                  <a:srgbClr val="111827"/>
                </a:solidFill>
                <a:latin typeface="Arial"/>
                <a:ea typeface="Arial"/>
                <a:cs typeface="Arial"/>
              </a:rPr>
              <a:t>Parlante</a:t>
            </a:r>
          </a:p>
        </p:txBody>
      </p:sp>
      <p:sp>
        <p:nvSpPr>
          <p:cNvPr id="15" name="">
            <a:extLst xmlns:a="http://schemas.openxmlformats.org/drawingml/2006/main">
              <a:ext uri="{FF2B5EF4-FFF2-40B4-BE49-F238E27FC236}">
                <a16:creationId xmlns:a16="http://schemas.microsoft.com/office/drawing/2014/main" id="{03CF2D21-28EC-441B-A150-1BBC37FEFEA9}"/>
              </a:ext>
            </a:extLst>
          </p:cNvPr>
          <p:cNvSpPr>
            <a:spLocks xmlns:a="http://schemas.openxmlformats.org/drawingml/2006/main" noGrp="1"/>
          </p:cNvSpPr>
          <p:nvPr/>
        </p:nvSpPr>
        <p:spPr>
          <a:xfrm xmlns:a="http://schemas.openxmlformats.org/drawingml/2006/main">
            <a:off x="9763125" y="22193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11827"/>
                </a:solidFill>
                <a:latin typeface="Arial"/>
                <a:ea typeface="Arial"/>
                <a:cs typeface="Arial"/>
              </a:defRPr>
            </a:pPr>
            <a:r>
              <a:rPr sz="1650" b="1">
                <a:solidFill>
                  <a:srgbClr val="111827"/>
                </a:solidFill>
                <a:latin typeface="Arial"/>
                <a:ea typeface="Arial"/>
                <a:cs typeface="Arial"/>
              </a:rPr>
              <a:t>Camino</a:t>
            </a:r>
          </a:p>
          <a:p xmlns:a="http://schemas.openxmlformats.org/drawingml/2006/main">
            <a:pPr algn="ctr">
              <a:defRPr sz="1650" b="1">
                <a:solidFill>
                  <a:srgbClr val="111827"/>
                </a:solidFill>
                <a:latin typeface="Arial"/>
                <a:ea typeface="Arial"/>
                <a:cs typeface="Arial"/>
              </a:defRPr>
            </a:pPr>
            <a:r>
              <a:rPr sz="1650" b="1">
                <a:solidFill>
                  <a:srgbClr val="111827"/>
                </a:solidFill>
                <a:latin typeface="Arial"/>
                <a:ea typeface="Arial"/>
                <a:cs typeface="Arial"/>
              </a:rPr>
              <a:t>acústico</a:t>
            </a:r>
          </a:p>
        </p:txBody>
      </p:sp>
      <p:sp>
        <p:nvSpPr>
          <p:cNvPr id="16" name="">
            <a:extLst xmlns:a="http://schemas.openxmlformats.org/drawingml/2006/main">
              <a:ext uri="{FF2B5EF4-FFF2-40B4-BE49-F238E27FC236}">
                <a16:creationId xmlns:a16="http://schemas.microsoft.com/office/drawing/2014/main" id="{84AC257E-192F-49FE-802F-0B971B8FE474}"/>
              </a:ext>
            </a:extLst>
          </p:cNvPr>
          <p:cNvSpPr>
            <a:spLocks xmlns:a="http://schemas.openxmlformats.org/drawingml/2006/main" noGrp="1"/>
          </p:cNvSpPr>
          <p:nvPr/>
        </p:nvSpPr>
        <p:spPr>
          <a:xfrm xmlns:a="http://schemas.openxmlformats.org/drawingml/2006/main">
            <a:off x="666750" y="3581400"/>
            <a:ext cx="10763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0">
                <a:solidFill>
                  <a:srgbClr val="5B6472"/>
                </a:solidFill>
                <a:latin typeface="Arial"/>
                <a:ea typeface="Arial"/>
                <a:cs typeface="Arial"/>
              </a:defRPr>
            </a:pPr>
            <a:r>
              <a:rPr sz="1800" b="0">
                <a:solidFill>
                  <a:srgbClr val="5B6472"/>
                </a:solidFill>
                <a:latin typeface="Arial"/>
                <a:ea typeface="Arial"/>
                <a:cs typeface="Arial"/>
              </a:rPr>
              <a:t>El sonido vuelve al micrófono, se amplifica otra vez y puede crecer hasta el howling.</a:t>
            </a:r>
          </a:p>
        </p:txBody>
      </p:sp>
      <p:sp>
        <p:nvSpPr>
          <p:cNvPr id="17" name="">
            <a:extLst xmlns:a="http://schemas.openxmlformats.org/drawingml/2006/main">
              <a:ext uri="{FF2B5EF4-FFF2-40B4-BE49-F238E27FC236}">
                <a16:creationId xmlns:a16="http://schemas.microsoft.com/office/drawing/2014/main" id="{5836E5B3-3D64-4B2D-ABE3-6922CC0929BE}"/>
              </a:ext>
            </a:extLst>
          </p:cNvPr>
          <p:cNvSpPr>
            <a:spLocks xmlns:a="http://schemas.openxmlformats.org/drawingml/2006/main" noGrp="1"/>
          </p:cNvSpPr>
          <p:nvPr/>
        </p:nvSpPr>
        <p:spPr>
          <a:xfrm xmlns:a="http://schemas.openxmlformats.org/drawingml/2006/main">
            <a:off x="666750" y="4543425"/>
            <a:ext cx="10763250" cy="1200150"/>
          </a:xfrm>
          <a:prstGeom xmlns:a="http://schemas.openxmlformats.org/drawingml/2006/main" prst="roundRect">
            <a:avLst>
              <a:gd name="adj" fmla="val 9524"/>
            </a:avLst>
          </a:prstGeom>
          <a:solidFill xmlns:a="http://schemas.openxmlformats.org/drawingml/2006/main">
            <a:srgbClr val="11182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D305D9F-19EC-43AE-B0BA-32D626DD0FE6}"/>
              </a:ext>
            </a:extLst>
          </p:cNvPr>
          <p:cNvSpPr>
            <a:spLocks xmlns:a="http://schemas.openxmlformats.org/drawingml/2006/main" noGrp="1"/>
          </p:cNvSpPr>
          <p:nvPr/>
        </p:nvSpPr>
        <p:spPr>
          <a:xfrm xmlns:a="http://schemas.openxmlformats.org/drawingml/2006/main">
            <a:off x="914400" y="4695825"/>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5C3F0"/>
                </a:solidFill>
                <a:latin typeface="Arial"/>
                <a:ea typeface="Arial"/>
                <a:cs typeface="Arial"/>
              </a:defRPr>
            </a:pPr>
            <a:r>
              <a:rPr sz="1350" b="1">
                <a:solidFill>
                  <a:srgbClr val="55C3F0"/>
                </a:solidFill>
                <a:latin typeface="Arial"/>
                <a:ea typeface="Arial"/>
                <a:cs typeface="Arial"/>
              </a:rPr>
              <a:t>Pregunta de investigación</a:t>
            </a:r>
          </a:p>
        </p:txBody>
      </p:sp>
      <p:sp>
        <p:nvSpPr>
          <p:cNvPr id="19" name="">
            <a:extLst xmlns:a="http://schemas.openxmlformats.org/drawingml/2006/main">
              <a:ext uri="{FF2B5EF4-FFF2-40B4-BE49-F238E27FC236}">
                <a16:creationId xmlns:a16="http://schemas.microsoft.com/office/drawing/2014/main" id="{4DDBF2A9-3DA2-43F3-92C6-3173DAA94153}"/>
              </a:ext>
            </a:extLst>
          </p:cNvPr>
          <p:cNvSpPr>
            <a:spLocks xmlns:a="http://schemas.openxmlformats.org/drawingml/2006/main" noGrp="1"/>
          </p:cNvSpPr>
          <p:nvPr/>
        </p:nvSpPr>
        <p:spPr>
          <a:xfrm xmlns:a="http://schemas.openxmlformats.org/drawingml/2006/main">
            <a:off x="914400" y="501015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¿Qué estrategia entrega más ganancia estable sin sacrificar calidad, latencia ni coste?</a:t>
            </a:r>
          </a:p>
        </p:txBody>
      </p:sp>
    </p:spTree>
    <p:extLst>
      <p:ext uri="{BB962C8B-B14F-4D97-AF65-F5344CB8AC3E}">
        <p14:creationId xmlns:p14="http://schemas.microsoft.com/office/powerpoint/2010/main" val="214547140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0D3311D-8214-4283-8703-8184EB6B086F}"/>
              </a:ext>
            </a:extLst>
          </p:cNvPr>
          <p:cNvSpPr>
            <a:spLocks xmlns:a="http://schemas.openxmlformats.org/drawingml/2006/main" noGrp="1"/>
          </p:cNvSpPr>
          <p:nvPr/>
        </p:nvSpPr>
        <p:spPr>
          <a:xfrm xmlns:a="http://schemas.openxmlformats.org/drawingml/2006/main">
            <a:off x="552450" y="2286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827"/>
                </a:solidFill>
                <a:latin typeface="Arial"/>
                <a:ea typeface="Arial"/>
                <a:cs typeface="Arial"/>
              </a:defRPr>
            </a:pPr>
            <a:r>
              <a:rPr sz="2850" b="1">
                <a:solidFill>
                  <a:srgbClr val="111827"/>
                </a:solidFill>
                <a:latin typeface="Arial"/>
                <a:ea typeface="Arial"/>
                <a:cs typeface="Arial"/>
              </a:rPr>
              <a:t>Tres estrategias, un solo protocolo de comparación</a:t>
            </a:r>
          </a:p>
        </p:txBody>
      </p:sp>
      <p:sp>
        <p:nvSpPr>
          <p:cNvPr id="2" name="">
            <a:extLst xmlns:a="http://schemas.openxmlformats.org/drawingml/2006/main">
              <a:ext uri="{FF2B5EF4-FFF2-40B4-BE49-F238E27FC236}">
                <a16:creationId xmlns:a16="http://schemas.microsoft.com/office/drawing/2014/main" id="{EC1C5641-B6FA-4A01-B9EE-FB67A85811AC}"/>
              </a:ext>
            </a:extLst>
          </p:cNvPr>
          <p:cNvSpPr>
            <a:spLocks xmlns:a="http://schemas.openxmlformats.org/drawingml/2006/main" noGrp="1"/>
          </p:cNvSpPr>
          <p:nvPr/>
        </p:nvSpPr>
        <p:spPr>
          <a:xfrm xmlns:a="http://schemas.openxmlformats.org/drawingml/2006/main">
            <a:off x="457200" y="1323975"/>
            <a:ext cx="11277600" cy="19050"/>
          </a:xfrm>
          <a:prstGeom xmlns:a="http://schemas.openxmlformats.org/drawingml/2006/main" prst="rect">
            <a:avLst/>
          </a:prstGeom>
          <a:solidFill xmlns:a="http://schemas.openxmlformats.org/drawingml/2006/main">
            <a:srgbClr val="E8EDF3"/>
          </a:solidFill>
          <a:ln xmlns:a="http://schemas.openxmlformats.org/drawingml/2006/main" w="0">
            <a:solidFill>
              <a:srgbClr val="E8EDF3"/>
            </a:solidFill>
            <a:prstDash val="solid"/>
          </a:ln>
        </p:spPr>
      </p:sp>
      <p:sp>
        <p:nvSpPr>
          <p:cNvPr id="3" name="">
            <a:extLst xmlns:a="http://schemas.openxmlformats.org/drawingml/2006/main">
              <a:ext uri="{FF2B5EF4-FFF2-40B4-BE49-F238E27FC236}">
                <a16:creationId xmlns:a16="http://schemas.microsoft.com/office/drawing/2014/main" id="{98DBB56E-02A5-4700-8558-9E53453C5087}"/>
              </a:ext>
            </a:extLst>
          </p:cNvPr>
          <p:cNvSpPr>
            <a:spLocks xmlns:a="http://schemas.openxmlformats.org/drawingml/2006/main" noGrp="1"/>
          </p:cNvSpPr>
          <p:nvPr/>
        </p:nvSpPr>
        <p:spPr>
          <a:xfrm xmlns:a="http://schemas.openxmlformats.org/drawingml/2006/main">
            <a:off x="1118235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0">
                <a:solidFill>
                  <a:srgbClr val="5B6472"/>
                </a:solidFill>
                <a:latin typeface="Arial"/>
                <a:ea typeface="Arial"/>
                <a:cs typeface="Arial"/>
              </a:defRPr>
            </a:pPr>
            <a:r>
              <a:rPr sz="1200" b="0">
                <a:solidFill>
                  <a:srgbClr val="5B6472"/>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2DF6CEBF-9026-4351-8FBB-528A71397E9A}"/>
              </a:ext>
            </a:extLst>
          </p:cNvPr>
          <p:cNvSpPr>
            <a:spLocks xmlns:a="http://schemas.openxmlformats.org/drawingml/2006/main" noGrp="1"/>
          </p:cNvSpPr>
          <p:nvPr/>
        </p:nvSpPr>
        <p:spPr>
          <a:xfrm xmlns:a="http://schemas.openxmlformats.org/drawingml/2006/main">
            <a:off x="552450" y="1752600"/>
            <a:ext cx="3314700" cy="3886200"/>
          </a:xfrm>
          <a:prstGeom xmlns:a="http://schemas.openxmlformats.org/drawingml/2006/main" prst="roundRect">
            <a:avLst>
              <a:gd name="adj" fmla="val 3448"/>
            </a:avLst>
          </a:prstGeom>
          <a:solidFill xmlns:a="http://schemas.openxmlformats.org/drawingml/2006/main">
            <a:srgbClr val="F3F5F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8A688A0-976A-4F9F-B121-818157A2E1AB}"/>
              </a:ext>
            </a:extLst>
          </p:cNvPr>
          <p:cNvSpPr>
            <a:spLocks xmlns:a="http://schemas.openxmlformats.org/drawingml/2006/main" noGrp="1"/>
          </p:cNvSpPr>
          <p:nvPr/>
        </p:nvSpPr>
        <p:spPr>
          <a:xfrm xmlns:a="http://schemas.openxmlformats.org/drawingml/2006/main">
            <a:off x="781050" y="2000250"/>
            <a:ext cx="552450" cy="552450"/>
          </a:xfrm>
          <a:prstGeom xmlns:a="http://schemas.openxmlformats.org/drawingml/2006/main" prst="ellipse">
            <a:avLst/>
          </a:prstGeom>
          <a:solidFill xmlns:a="http://schemas.openxmlformats.org/drawingml/2006/main">
            <a:srgbClr val="1769E0"/>
          </a:solidFill>
          <a:ln xmlns:a="http://schemas.openxmlformats.org/drawingml/2006/main" w="0">
            <a:solidFill>
              <a:srgbClr val="1769E0"/>
            </a:solidFill>
            <a:prstDash val="solid"/>
          </a:ln>
        </p:spPr>
      </p:sp>
      <p:sp>
        <p:nvSpPr>
          <p:cNvPr id="6" name="">
            <a:extLst xmlns:a="http://schemas.openxmlformats.org/drawingml/2006/main">
              <a:ext uri="{FF2B5EF4-FFF2-40B4-BE49-F238E27FC236}">
                <a16:creationId xmlns:a16="http://schemas.microsoft.com/office/drawing/2014/main" id="{0F8A46F4-E061-414E-981D-4392B479CA49}"/>
              </a:ext>
            </a:extLst>
          </p:cNvPr>
          <p:cNvSpPr>
            <a:spLocks xmlns:a="http://schemas.openxmlformats.org/drawingml/2006/main" noGrp="1"/>
          </p:cNvSpPr>
          <p:nvPr/>
        </p:nvSpPr>
        <p:spPr>
          <a:xfrm xmlns:a="http://schemas.openxmlformats.org/drawingml/2006/main">
            <a:off x="781050" y="20002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44A7BF7-D7C8-40F6-8A02-B43EF3128FCE}"/>
              </a:ext>
            </a:extLst>
          </p:cNvPr>
          <p:cNvSpPr>
            <a:spLocks xmlns:a="http://schemas.openxmlformats.org/drawingml/2006/main" noGrp="1"/>
          </p:cNvSpPr>
          <p:nvPr/>
        </p:nvSpPr>
        <p:spPr>
          <a:xfrm xmlns:a="http://schemas.openxmlformats.org/drawingml/2006/main">
            <a:off x="781050" y="2752725"/>
            <a:ext cx="283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111827"/>
                </a:solidFill>
                <a:latin typeface="Arial"/>
                <a:ea typeface="Arial"/>
                <a:cs typeface="Arial"/>
              </a:defRPr>
            </a:pPr>
            <a:r>
              <a:rPr sz="2100" b="1">
                <a:solidFill>
                  <a:srgbClr val="111827"/>
                </a:solidFill>
                <a:latin typeface="Arial"/>
                <a:ea typeface="Arial"/>
                <a:cs typeface="Arial"/>
              </a:rPr>
              <a:t>Patel / NLMS</a:t>
            </a:r>
          </a:p>
        </p:txBody>
      </p:sp>
      <p:sp>
        <p:nvSpPr>
          <p:cNvPr id="8" name="">
            <a:extLst xmlns:a="http://schemas.openxmlformats.org/drawingml/2006/main">
              <a:ext uri="{FF2B5EF4-FFF2-40B4-BE49-F238E27FC236}">
                <a16:creationId xmlns:a16="http://schemas.microsoft.com/office/drawing/2014/main" id="{144346E9-B6D3-4CF3-8814-2254820AD0B5}"/>
              </a:ext>
            </a:extLst>
          </p:cNvPr>
          <p:cNvSpPr>
            <a:spLocks xmlns:a="http://schemas.openxmlformats.org/drawingml/2006/main" noGrp="1"/>
          </p:cNvSpPr>
          <p:nvPr/>
        </p:nvSpPr>
        <p:spPr>
          <a:xfrm xmlns:a="http://schemas.openxmlformats.org/drawingml/2006/main">
            <a:off x="781050" y="3333750"/>
            <a:ext cx="28384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5B6472"/>
                </a:solidFill>
                <a:latin typeface="Arial"/>
                <a:ea typeface="Arial"/>
                <a:cs typeface="Arial"/>
              </a:defRPr>
            </a:pPr>
            <a:r>
              <a:rPr sz="1575" b="0">
                <a:solidFill>
                  <a:srgbClr val="5B6472"/>
                </a:solidFill>
                <a:latin typeface="Arial"/>
                <a:ea typeface="Arial"/>
                <a:cs typeface="Arial"/>
              </a:rPr>
              <a:t>Calibración con sonda y FIR congelado. Reestimación sólo en pruebas controladas.</a:t>
            </a:r>
          </a:p>
        </p:txBody>
      </p:sp>
      <p:sp>
        <p:nvSpPr>
          <p:cNvPr id="9" name="">
            <a:extLst xmlns:a="http://schemas.openxmlformats.org/drawingml/2006/main">
              <a:ext uri="{FF2B5EF4-FFF2-40B4-BE49-F238E27FC236}">
                <a16:creationId xmlns:a16="http://schemas.microsoft.com/office/drawing/2014/main" id="{1D22C9B6-268E-4998-9F25-C270B7D56041}"/>
              </a:ext>
            </a:extLst>
          </p:cNvPr>
          <p:cNvSpPr>
            <a:spLocks xmlns:a="http://schemas.openxmlformats.org/drawingml/2006/main" noGrp="1"/>
          </p:cNvSpPr>
          <p:nvPr/>
        </p:nvSpPr>
        <p:spPr>
          <a:xfrm xmlns:a="http://schemas.openxmlformats.org/drawingml/2006/main">
            <a:off x="781050" y="4943475"/>
            <a:ext cx="283845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23CA0CD-99D5-4354-AFE4-CA6483CF7E8E}"/>
              </a:ext>
            </a:extLst>
          </p:cNvPr>
          <p:cNvSpPr>
            <a:spLocks xmlns:a="http://schemas.openxmlformats.org/drawingml/2006/main" noGrp="1"/>
          </p:cNvSpPr>
          <p:nvPr/>
        </p:nvSpPr>
        <p:spPr>
          <a:xfrm xmlns:a="http://schemas.openxmlformats.org/drawingml/2006/main">
            <a:off x="857250" y="49434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69E0"/>
                </a:solidFill>
                <a:latin typeface="Arial"/>
                <a:ea typeface="Arial"/>
                <a:cs typeface="Arial"/>
              </a:defRPr>
            </a:pPr>
            <a:r>
              <a:rPr sz="1200" b="1">
                <a:solidFill>
                  <a:srgbClr val="1769E0"/>
                </a:solidFill>
                <a:latin typeface="Arial"/>
                <a:ea typeface="Arial"/>
                <a:cs typeface="Arial"/>
              </a:rPr>
              <a:t>IMPLEMENTADO · PARIDAD PENDIENTE</a:t>
            </a:r>
          </a:p>
        </p:txBody>
      </p:sp>
      <p:sp>
        <p:nvSpPr>
          <p:cNvPr id="11" name="">
            <a:extLst xmlns:a="http://schemas.openxmlformats.org/drawingml/2006/main">
              <a:ext uri="{FF2B5EF4-FFF2-40B4-BE49-F238E27FC236}">
                <a16:creationId xmlns:a16="http://schemas.microsoft.com/office/drawing/2014/main" id="{63D86231-D761-452E-9208-9BF03E0D47B5}"/>
              </a:ext>
            </a:extLst>
          </p:cNvPr>
          <p:cNvSpPr>
            <a:spLocks xmlns:a="http://schemas.openxmlformats.org/drawingml/2006/main" noGrp="1"/>
          </p:cNvSpPr>
          <p:nvPr/>
        </p:nvSpPr>
        <p:spPr>
          <a:xfrm xmlns:a="http://schemas.openxmlformats.org/drawingml/2006/main">
            <a:off x="4114800" y="1752600"/>
            <a:ext cx="3314700" cy="3886200"/>
          </a:xfrm>
          <a:prstGeom xmlns:a="http://schemas.openxmlformats.org/drawingml/2006/main" prst="roundRect">
            <a:avLst>
              <a:gd name="adj" fmla="val 3448"/>
            </a:avLst>
          </a:prstGeom>
          <a:solidFill xmlns:a="http://schemas.openxmlformats.org/drawingml/2006/main">
            <a:srgbClr val="F3F5F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592968C-D34B-4559-BAEF-34AB315D7B40}"/>
              </a:ext>
            </a:extLst>
          </p:cNvPr>
          <p:cNvSpPr>
            <a:spLocks xmlns:a="http://schemas.openxmlformats.org/drawingml/2006/main" noGrp="1"/>
          </p:cNvSpPr>
          <p:nvPr/>
        </p:nvSpPr>
        <p:spPr>
          <a:xfrm xmlns:a="http://schemas.openxmlformats.org/drawingml/2006/main">
            <a:off x="4343400" y="2000250"/>
            <a:ext cx="552450" cy="552450"/>
          </a:xfrm>
          <a:prstGeom xmlns:a="http://schemas.openxmlformats.org/drawingml/2006/main" prst="ellipse">
            <a:avLst/>
          </a:prstGeom>
          <a:solidFill xmlns:a="http://schemas.openxmlformats.org/drawingml/2006/main">
            <a:srgbClr val="55C3F0"/>
          </a:solidFill>
          <a:ln xmlns:a="http://schemas.openxmlformats.org/drawingml/2006/main" w="0">
            <a:solidFill>
              <a:srgbClr val="55C3F0"/>
            </a:solidFill>
            <a:prstDash val="solid"/>
          </a:ln>
        </p:spPr>
      </p:sp>
      <p:sp>
        <p:nvSpPr>
          <p:cNvPr id="13" name="">
            <a:extLst xmlns:a="http://schemas.openxmlformats.org/drawingml/2006/main">
              <a:ext uri="{FF2B5EF4-FFF2-40B4-BE49-F238E27FC236}">
                <a16:creationId xmlns:a16="http://schemas.microsoft.com/office/drawing/2014/main" id="{8DD86FDB-BCFC-4EC5-8715-AE3D00FFC5CB}"/>
              </a:ext>
            </a:extLst>
          </p:cNvPr>
          <p:cNvSpPr>
            <a:spLocks xmlns:a="http://schemas.openxmlformats.org/drawingml/2006/main" noGrp="1"/>
          </p:cNvSpPr>
          <p:nvPr/>
        </p:nvSpPr>
        <p:spPr>
          <a:xfrm xmlns:a="http://schemas.openxmlformats.org/drawingml/2006/main">
            <a:off x="4343400" y="20002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33A06B74-564A-4D14-8D93-1BD38C176CE0}"/>
              </a:ext>
            </a:extLst>
          </p:cNvPr>
          <p:cNvSpPr>
            <a:spLocks xmlns:a="http://schemas.openxmlformats.org/drawingml/2006/main" noGrp="1"/>
          </p:cNvSpPr>
          <p:nvPr/>
        </p:nvSpPr>
        <p:spPr>
          <a:xfrm xmlns:a="http://schemas.openxmlformats.org/drawingml/2006/main">
            <a:off x="4343400" y="2752725"/>
            <a:ext cx="283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111827"/>
                </a:solidFill>
                <a:latin typeface="Arial"/>
                <a:ea typeface="Arial"/>
                <a:cs typeface="Arial"/>
              </a:defRPr>
            </a:pPr>
            <a:r>
              <a:rPr sz="2100" b="1">
                <a:solidFill>
                  <a:srgbClr val="111827"/>
                </a:solidFill>
                <a:latin typeface="Arial"/>
                <a:ea typeface="Arial"/>
                <a:cs typeface="Arial"/>
              </a:rPr>
              <a:t>ML causal</a:t>
            </a:r>
          </a:p>
        </p:txBody>
      </p:sp>
      <p:sp>
        <p:nvSpPr>
          <p:cNvPr id="15" name="">
            <a:extLst xmlns:a="http://schemas.openxmlformats.org/drawingml/2006/main">
              <a:ext uri="{FF2B5EF4-FFF2-40B4-BE49-F238E27FC236}">
                <a16:creationId xmlns:a16="http://schemas.microsoft.com/office/drawing/2014/main" id="{BB50D45E-934B-4BB7-94F3-432949FCCCB8}"/>
              </a:ext>
            </a:extLst>
          </p:cNvPr>
          <p:cNvSpPr>
            <a:spLocks xmlns:a="http://schemas.openxmlformats.org/drawingml/2006/main" noGrp="1"/>
          </p:cNvSpPr>
          <p:nvPr/>
        </p:nvSpPr>
        <p:spPr>
          <a:xfrm xmlns:a="http://schemas.openxmlformats.org/drawingml/2006/main">
            <a:off x="4343400" y="3333750"/>
            <a:ext cx="28384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5B6472"/>
                </a:solidFill>
                <a:latin typeface="Arial"/>
                <a:ea typeface="Arial"/>
                <a:cs typeface="Arial"/>
              </a:defRPr>
            </a:pPr>
            <a:r>
              <a:rPr sz="1575" b="0">
                <a:solidFill>
                  <a:srgbClr val="5B6472"/>
                </a:solidFill>
                <a:latin typeface="Arial"/>
                <a:ea typeface="Arial"/>
                <a:cs typeface="Arial"/>
              </a:rPr>
              <a:t>MLP, GRU y DeepMFC compacto. El ganador se elige por la frontera calidad–coste.</a:t>
            </a:r>
          </a:p>
        </p:txBody>
      </p:sp>
      <p:sp>
        <p:nvSpPr>
          <p:cNvPr id="16" name="">
            <a:extLst xmlns:a="http://schemas.openxmlformats.org/drawingml/2006/main">
              <a:ext uri="{FF2B5EF4-FFF2-40B4-BE49-F238E27FC236}">
                <a16:creationId xmlns:a16="http://schemas.microsoft.com/office/drawing/2014/main" id="{814E3DDE-AB5F-465F-A6CE-EC37DAE45442}"/>
              </a:ext>
            </a:extLst>
          </p:cNvPr>
          <p:cNvSpPr>
            <a:spLocks xmlns:a="http://schemas.openxmlformats.org/drawingml/2006/main" noGrp="1"/>
          </p:cNvSpPr>
          <p:nvPr/>
        </p:nvSpPr>
        <p:spPr>
          <a:xfrm xmlns:a="http://schemas.openxmlformats.org/drawingml/2006/main">
            <a:off x="4343400" y="4943475"/>
            <a:ext cx="283845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061A035-F51D-4A37-AF8E-BF5481CB4064}"/>
              </a:ext>
            </a:extLst>
          </p:cNvPr>
          <p:cNvSpPr>
            <a:spLocks xmlns:a="http://schemas.openxmlformats.org/drawingml/2006/main" noGrp="1"/>
          </p:cNvSpPr>
          <p:nvPr/>
        </p:nvSpPr>
        <p:spPr>
          <a:xfrm xmlns:a="http://schemas.openxmlformats.org/drawingml/2006/main">
            <a:off x="4419600" y="49434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55C3F0"/>
                </a:solidFill>
                <a:latin typeface="Arial"/>
                <a:ea typeface="Arial"/>
                <a:cs typeface="Arial"/>
              </a:defRPr>
            </a:pPr>
            <a:r>
              <a:rPr sz="1200" b="1">
                <a:solidFill>
                  <a:srgbClr val="55C3F0"/>
                </a:solidFill>
                <a:latin typeface="Arial"/>
                <a:ea typeface="Arial"/>
                <a:cs typeface="Arial"/>
              </a:rPr>
              <a:t>ARQUITECTURAS LISTAS · SIN ENTRENAR</a:t>
            </a:r>
          </a:p>
        </p:txBody>
      </p:sp>
      <p:sp>
        <p:nvSpPr>
          <p:cNvPr id="18" name="">
            <a:extLst xmlns:a="http://schemas.openxmlformats.org/drawingml/2006/main">
              <a:ext uri="{FF2B5EF4-FFF2-40B4-BE49-F238E27FC236}">
                <a16:creationId xmlns:a16="http://schemas.microsoft.com/office/drawing/2014/main" id="{113AE2A1-7A94-4549-8725-D5E90BA8C6D6}"/>
              </a:ext>
            </a:extLst>
          </p:cNvPr>
          <p:cNvSpPr>
            <a:spLocks xmlns:a="http://schemas.openxmlformats.org/drawingml/2006/main" noGrp="1"/>
          </p:cNvSpPr>
          <p:nvPr/>
        </p:nvSpPr>
        <p:spPr>
          <a:xfrm xmlns:a="http://schemas.openxmlformats.org/drawingml/2006/main">
            <a:off x="7677150" y="1752600"/>
            <a:ext cx="3314700" cy="3886200"/>
          </a:xfrm>
          <a:prstGeom xmlns:a="http://schemas.openxmlformats.org/drawingml/2006/main" prst="roundRect">
            <a:avLst>
              <a:gd name="adj" fmla="val 3448"/>
            </a:avLst>
          </a:prstGeom>
          <a:solidFill xmlns:a="http://schemas.openxmlformats.org/drawingml/2006/main">
            <a:srgbClr val="F3F5F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2337F2D-3D33-4D22-9132-13063C602897}"/>
              </a:ext>
            </a:extLst>
          </p:cNvPr>
          <p:cNvSpPr>
            <a:spLocks xmlns:a="http://schemas.openxmlformats.org/drawingml/2006/main" noGrp="1"/>
          </p:cNvSpPr>
          <p:nvPr/>
        </p:nvSpPr>
        <p:spPr>
          <a:xfrm xmlns:a="http://schemas.openxmlformats.org/drawingml/2006/main">
            <a:off x="7905750" y="2000250"/>
            <a:ext cx="552450" cy="552450"/>
          </a:xfrm>
          <a:prstGeom xmlns:a="http://schemas.openxmlformats.org/drawingml/2006/main" prst="ellipse">
            <a:avLst/>
          </a:prstGeom>
          <a:solidFill xmlns:a="http://schemas.openxmlformats.org/drawingml/2006/main">
            <a:srgbClr val="16845B"/>
          </a:solidFill>
          <a:ln xmlns:a="http://schemas.openxmlformats.org/drawingml/2006/main" w="0">
            <a:solidFill>
              <a:srgbClr val="16845B"/>
            </a:solidFill>
            <a:prstDash val="solid"/>
          </a:ln>
        </p:spPr>
      </p:sp>
      <p:sp>
        <p:nvSpPr>
          <p:cNvPr id="20" name="">
            <a:extLst xmlns:a="http://schemas.openxmlformats.org/drawingml/2006/main">
              <a:ext uri="{FF2B5EF4-FFF2-40B4-BE49-F238E27FC236}">
                <a16:creationId xmlns:a16="http://schemas.microsoft.com/office/drawing/2014/main" id="{CBFBD3DF-C53B-4143-8F5D-99AFDE741554}"/>
              </a:ext>
            </a:extLst>
          </p:cNvPr>
          <p:cNvSpPr>
            <a:spLocks xmlns:a="http://schemas.openxmlformats.org/drawingml/2006/main" noGrp="1"/>
          </p:cNvSpPr>
          <p:nvPr/>
        </p:nvSpPr>
        <p:spPr>
          <a:xfrm xmlns:a="http://schemas.openxmlformats.org/drawingml/2006/main">
            <a:off x="7905750" y="20002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03</a:t>
            </a:r>
          </a:p>
        </p:txBody>
      </p:sp>
      <p:sp>
        <p:nvSpPr>
          <p:cNvPr id="21" name="">
            <a:extLst xmlns:a="http://schemas.openxmlformats.org/drawingml/2006/main">
              <a:ext uri="{FF2B5EF4-FFF2-40B4-BE49-F238E27FC236}">
                <a16:creationId xmlns:a16="http://schemas.microsoft.com/office/drawing/2014/main" id="{7DB5A5F6-94D9-4D39-810A-201F03300629}"/>
              </a:ext>
            </a:extLst>
          </p:cNvPr>
          <p:cNvSpPr>
            <a:spLocks xmlns:a="http://schemas.openxmlformats.org/drawingml/2006/main" noGrp="1"/>
          </p:cNvSpPr>
          <p:nvPr/>
        </p:nvSpPr>
        <p:spPr>
          <a:xfrm xmlns:a="http://schemas.openxmlformats.org/drawingml/2006/main">
            <a:off x="7905750" y="2752725"/>
            <a:ext cx="2838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111827"/>
                </a:solidFill>
                <a:latin typeface="Arial"/>
                <a:ea typeface="Arial"/>
                <a:cs typeface="Arial"/>
              </a:defRPr>
            </a:pPr>
            <a:r>
              <a:rPr sz="2100" b="1">
                <a:solidFill>
                  <a:srgbClr val="111827"/>
                </a:solidFill>
                <a:latin typeface="Arial"/>
                <a:ea typeface="Arial"/>
                <a:cs typeface="Arial"/>
              </a:rPr>
              <a:t>Híbrido</a:t>
            </a:r>
          </a:p>
        </p:txBody>
      </p:sp>
      <p:sp>
        <p:nvSpPr>
          <p:cNvPr id="22" name="">
            <a:extLst xmlns:a="http://schemas.openxmlformats.org/drawingml/2006/main">
              <a:ext uri="{FF2B5EF4-FFF2-40B4-BE49-F238E27FC236}">
                <a16:creationId xmlns:a16="http://schemas.microsoft.com/office/drawing/2014/main" id="{A6FCF548-08C6-4CFD-9491-B0D6B44E2F54}"/>
              </a:ext>
            </a:extLst>
          </p:cNvPr>
          <p:cNvSpPr>
            <a:spLocks xmlns:a="http://schemas.openxmlformats.org/drawingml/2006/main" noGrp="1"/>
          </p:cNvSpPr>
          <p:nvPr/>
        </p:nvSpPr>
        <p:spPr>
          <a:xfrm xmlns:a="http://schemas.openxmlformats.org/drawingml/2006/main">
            <a:off x="7905750" y="3333750"/>
            <a:ext cx="28384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0">
                <a:solidFill>
                  <a:srgbClr val="5B6472"/>
                </a:solidFill>
                <a:latin typeface="Arial"/>
                <a:ea typeface="Arial"/>
                <a:cs typeface="Arial"/>
              </a:defRPr>
            </a:pPr>
            <a:r>
              <a:rPr sz="1575" b="0">
                <a:solidFill>
                  <a:srgbClr val="5B6472"/>
                </a:solidFill>
                <a:latin typeface="Arial"/>
                <a:ea typeface="Arial"/>
                <a:cs typeface="Arial"/>
              </a:rPr>
              <a:t>Patel elimina la componente predecible; una red residual trata el remanente.</a:t>
            </a:r>
          </a:p>
        </p:txBody>
      </p:sp>
      <p:sp>
        <p:nvSpPr>
          <p:cNvPr id="23" name="">
            <a:extLst xmlns:a="http://schemas.openxmlformats.org/drawingml/2006/main">
              <a:ext uri="{FF2B5EF4-FFF2-40B4-BE49-F238E27FC236}">
                <a16:creationId xmlns:a16="http://schemas.microsoft.com/office/drawing/2014/main" id="{57760C2A-02E6-4D0B-919E-0711B0DDFC22}"/>
              </a:ext>
            </a:extLst>
          </p:cNvPr>
          <p:cNvSpPr>
            <a:spLocks xmlns:a="http://schemas.openxmlformats.org/drawingml/2006/main" noGrp="1"/>
          </p:cNvSpPr>
          <p:nvPr/>
        </p:nvSpPr>
        <p:spPr>
          <a:xfrm xmlns:a="http://schemas.openxmlformats.org/drawingml/2006/main">
            <a:off x="7905750" y="4943475"/>
            <a:ext cx="2838450" cy="323850"/>
          </a:xfrm>
          <a:prstGeom xmlns:a="http://schemas.openxmlformats.org/drawingml/2006/main" prst="roundRect">
            <a:avLst>
              <a:gd name="adj" fmla="val 35294"/>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8D58F24-912C-4ECA-8C32-E75EA7030008}"/>
              </a:ext>
            </a:extLst>
          </p:cNvPr>
          <p:cNvSpPr>
            <a:spLocks xmlns:a="http://schemas.openxmlformats.org/drawingml/2006/main" noGrp="1"/>
          </p:cNvSpPr>
          <p:nvPr/>
        </p:nvSpPr>
        <p:spPr>
          <a:xfrm xmlns:a="http://schemas.openxmlformats.org/drawingml/2006/main">
            <a:off x="7981950" y="4943475"/>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6845B"/>
                </a:solidFill>
                <a:latin typeface="Arial"/>
                <a:ea typeface="Arial"/>
                <a:cs typeface="Arial"/>
              </a:defRPr>
            </a:pPr>
            <a:r>
              <a:rPr sz="1200" b="1">
                <a:solidFill>
                  <a:srgbClr val="16845B"/>
                </a:solidFill>
                <a:latin typeface="Arial"/>
                <a:ea typeface="Arial"/>
                <a:cs typeface="Arial"/>
              </a:rPr>
              <a:t>DISEÑADO · DEPENDE DEL GANADOR ML</a:t>
            </a:r>
          </a:p>
        </p:txBody>
      </p:sp>
      <p:sp>
        <p:nvSpPr>
          <p:cNvPr id="25" name="">
            <a:extLst xmlns:a="http://schemas.openxmlformats.org/drawingml/2006/main">
              <a:ext uri="{FF2B5EF4-FFF2-40B4-BE49-F238E27FC236}">
                <a16:creationId xmlns:a16="http://schemas.microsoft.com/office/drawing/2014/main" id="{8198C247-4842-4791-962C-D87E80B3EFD8}"/>
              </a:ext>
            </a:extLst>
          </p:cNvPr>
          <p:cNvSpPr>
            <a:spLocks xmlns:a="http://schemas.openxmlformats.org/drawingml/2006/main" noGrp="1"/>
          </p:cNvSpPr>
          <p:nvPr/>
        </p:nvSpPr>
        <p:spPr>
          <a:xfrm xmlns:a="http://schemas.openxmlformats.org/drawingml/2006/main">
            <a:off x="857250" y="5905500"/>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1769E0"/>
                </a:solidFill>
                <a:latin typeface="Arial"/>
                <a:ea typeface="Arial"/>
                <a:cs typeface="Arial"/>
              </a:defRPr>
            </a:pPr>
            <a:r>
              <a:rPr sz="1650" b="1">
                <a:solidFill>
                  <a:srgbClr val="1769E0"/>
                </a:solidFill>
                <a:latin typeface="Arial"/>
                <a:ea typeface="Arial"/>
                <a:cs typeface="Arial"/>
              </a:rPr>
              <a:t>Misma entrada mono · 48 kHz · misma segmentación · mismas métricas · mismo hardware final</a:t>
            </a:r>
          </a:p>
        </p:txBody>
      </p:sp>
    </p:spTree>
    <p:extLst>
      <p:ext uri="{BB962C8B-B14F-4D97-AF65-F5344CB8AC3E}">
        <p14:creationId xmlns:p14="http://schemas.microsoft.com/office/powerpoint/2010/main" val="75493405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 name="">
            <a:extLst xmlns:a="http://schemas.openxmlformats.org/drawingml/2006/main">
              <a:ext uri="{FF2B5EF4-FFF2-40B4-BE49-F238E27FC236}">
                <a16:creationId xmlns:a16="http://schemas.microsoft.com/office/drawing/2014/main" id="{ABE173AF-06DF-4398-B261-E646AD988FAB}"/>
              </a:ext>
            </a:extLst>
          </p:cNvPr>
          <p:cNvSpPr>
            <a:spLocks xmlns:a="http://schemas.openxmlformats.org/drawingml/2006/main" noGrp="1"/>
          </p:cNvSpPr>
          <p:nvPr/>
        </p:nvSpPr>
        <p:spPr>
          <a:xfrm xmlns:a="http://schemas.openxmlformats.org/drawingml/2006/main">
            <a:off x="552450" y="2286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827"/>
                </a:solidFill>
                <a:latin typeface="Arial"/>
                <a:ea typeface="Arial"/>
                <a:cs typeface="Arial"/>
              </a:defRPr>
            </a:pPr>
            <a:r>
              <a:rPr sz="2850" b="1">
                <a:solidFill>
                  <a:srgbClr val="111827"/>
                </a:solidFill>
                <a:latin typeface="Arial"/>
                <a:ea typeface="Arial"/>
                <a:cs typeface="Arial"/>
              </a:rPr>
              <a:t>Ya existe una plataforma experimental operativa</a:t>
            </a:r>
          </a:p>
        </p:txBody>
      </p:sp>
      <p:sp>
        <p:nvSpPr>
          <p:cNvPr id="2" name="">
            <a:extLst xmlns:a="http://schemas.openxmlformats.org/drawingml/2006/main">
              <a:ext uri="{FF2B5EF4-FFF2-40B4-BE49-F238E27FC236}">
                <a16:creationId xmlns:a16="http://schemas.microsoft.com/office/drawing/2014/main" id="{F9A0632E-3DB6-485A-8E48-550FC8AB8A14}"/>
              </a:ext>
            </a:extLst>
          </p:cNvPr>
          <p:cNvSpPr>
            <a:spLocks xmlns:a="http://schemas.openxmlformats.org/drawingml/2006/main" noGrp="1"/>
          </p:cNvSpPr>
          <p:nvPr/>
        </p:nvSpPr>
        <p:spPr>
          <a:xfrm xmlns:a="http://schemas.openxmlformats.org/drawingml/2006/main">
            <a:off x="457200" y="1323975"/>
            <a:ext cx="11277600" cy="19050"/>
          </a:xfrm>
          <a:prstGeom xmlns:a="http://schemas.openxmlformats.org/drawingml/2006/main" prst="rect">
            <a:avLst/>
          </a:prstGeom>
          <a:solidFill xmlns:a="http://schemas.openxmlformats.org/drawingml/2006/main">
            <a:srgbClr val="E8EDF3"/>
          </a:solidFill>
          <a:ln xmlns:a="http://schemas.openxmlformats.org/drawingml/2006/main" w="0">
            <a:solidFill>
              <a:srgbClr val="E8EDF3"/>
            </a:solidFill>
            <a:prstDash val="solid"/>
          </a:ln>
        </p:spPr>
      </p:sp>
      <p:sp>
        <p:nvSpPr>
          <p:cNvPr id="3" name="">
            <a:extLst xmlns:a="http://schemas.openxmlformats.org/drawingml/2006/main">
              <a:ext uri="{FF2B5EF4-FFF2-40B4-BE49-F238E27FC236}">
                <a16:creationId xmlns:a16="http://schemas.microsoft.com/office/drawing/2014/main" id="{8BFB6A13-07D5-4667-812B-C42923A69097}"/>
              </a:ext>
            </a:extLst>
          </p:cNvPr>
          <p:cNvSpPr>
            <a:spLocks xmlns:a="http://schemas.openxmlformats.org/drawingml/2006/main" noGrp="1"/>
          </p:cNvSpPr>
          <p:nvPr/>
        </p:nvSpPr>
        <p:spPr>
          <a:xfrm xmlns:a="http://schemas.openxmlformats.org/drawingml/2006/main">
            <a:off x="1118235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0">
                <a:solidFill>
                  <a:srgbClr val="5B6472"/>
                </a:solidFill>
                <a:latin typeface="Arial"/>
                <a:ea typeface="Arial"/>
                <a:cs typeface="Arial"/>
              </a:defRPr>
            </a:pPr>
            <a:r>
              <a:rPr sz="1200" b="0">
                <a:solidFill>
                  <a:srgbClr val="5B6472"/>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BF80E792-2E54-450B-BEFD-9FC71A3602BA}"/>
              </a:ext>
            </a:extLst>
          </p:cNvPr>
          <p:cNvSpPr>
            <a:spLocks xmlns:a="http://schemas.openxmlformats.org/drawingml/2006/main" noGrp="1"/>
          </p:cNvSpPr>
          <p:nvPr/>
        </p:nvSpPr>
        <p:spPr>
          <a:xfrm xmlns:a="http://schemas.openxmlformats.org/drawingml/2006/main">
            <a:off x="514350" y="1619250"/>
            <a:ext cx="7067550" cy="4305300"/>
          </a:xfrm>
          <a:prstGeom xmlns:a="http://schemas.openxmlformats.org/drawingml/2006/main" prst="roundRect">
            <a:avLst>
              <a:gd name="adj" fmla="val 2655"/>
            </a:avLst>
          </a:prstGeom>
          <a:solidFill xmlns:a="http://schemas.openxmlformats.org/drawingml/2006/main">
            <a:srgbClr val="10182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3C4ABBF-46FA-44BE-9057-5A66FFCC5178}"/>
              </a:ext>
            </a:extLst>
          </p:cNvPr>
          <p:cNvSpPr>
            <a:spLocks xmlns:a="http://schemas.openxmlformats.org/drawingml/2006/main" noGrp="1"/>
          </p:cNvSpPr>
          <p:nvPr/>
        </p:nvSpPr>
        <p:spPr>
          <a:xfrm xmlns:a="http://schemas.openxmlformats.org/drawingml/2006/main">
            <a:off x="781050" y="18288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5C3F0"/>
                </a:solidFill>
                <a:latin typeface="Arial"/>
                <a:ea typeface="Arial"/>
                <a:cs typeface="Arial"/>
              </a:defRPr>
            </a:pPr>
            <a:r>
              <a:rPr sz="1350" b="1">
                <a:solidFill>
                  <a:srgbClr val="55C3F0"/>
                </a:solidFill>
                <a:latin typeface="Arial"/>
                <a:ea typeface="Arial"/>
                <a:cs typeface="Arial"/>
              </a:rPr>
              <a:t>AFC REALTIME LAB</a:t>
            </a:r>
          </a:p>
        </p:txBody>
      </p:sp>
      <p:sp>
        <p:nvSpPr>
          <p:cNvPr id="6" name="">
            <a:extLst xmlns:a="http://schemas.openxmlformats.org/drawingml/2006/main">
              <a:ext uri="{FF2B5EF4-FFF2-40B4-BE49-F238E27FC236}">
                <a16:creationId xmlns:a16="http://schemas.microsoft.com/office/drawing/2014/main" id="{33405DA4-32CF-4915-83F2-9154402CB244}"/>
              </a:ext>
            </a:extLst>
          </p:cNvPr>
          <p:cNvSpPr>
            <a:spLocks xmlns:a="http://schemas.openxmlformats.org/drawingml/2006/main" noGrp="1"/>
          </p:cNvSpPr>
          <p:nvPr/>
        </p:nvSpPr>
        <p:spPr>
          <a:xfrm xmlns:a="http://schemas.openxmlformats.org/drawingml/2006/main">
            <a:off x="5410200" y="1809750"/>
            <a:ext cx="952500" cy="323850"/>
          </a:xfrm>
          <a:prstGeom xmlns:a="http://schemas.openxmlformats.org/drawingml/2006/main" prst="roundRect">
            <a:avLst>
              <a:gd name="adj" fmla="val 35294"/>
            </a:avLst>
          </a:prstGeom>
          <a:solidFill xmlns:a="http://schemas.openxmlformats.org/drawingml/2006/main">
            <a:srgbClr val="24344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DB72587-4B05-4A46-B8A3-34D72D2ABA92}"/>
              </a:ext>
            </a:extLst>
          </p:cNvPr>
          <p:cNvSpPr>
            <a:spLocks xmlns:a="http://schemas.openxmlformats.org/drawingml/2006/main" noGrp="1"/>
          </p:cNvSpPr>
          <p:nvPr/>
        </p:nvSpPr>
        <p:spPr>
          <a:xfrm xmlns:a="http://schemas.openxmlformats.org/drawingml/2006/main">
            <a:off x="5486400" y="1809750"/>
            <a:ext cx="80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48 000 Hz</a:t>
            </a:r>
          </a:p>
        </p:txBody>
      </p:sp>
      <p:sp>
        <p:nvSpPr>
          <p:cNvPr id="8" name="">
            <a:extLst xmlns:a="http://schemas.openxmlformats.org/drawingml/2006/main">
              <a:ext uri="{FF2B5EF4-FFF2-40B4-BE49-F238E27FC236}">
                <a16:creationId xmlns:a16="http://schemas.microsoft.com/office/drawing/2014/main" id="{E1126F46-A271-419C-AA79-147E9691EA25}"/>
              </a:ext>
            </a:extLst>
          </p:cNvPr>
          <p:cNvSpPr>
            <a:spLocks xmlns:a="http://schemas.openxmlformats.org/drawingml/2006/main" noGrp="1"/>
          </p:cNvSpPr>
          <p:nvPr/>
        </p:nvSpPr>
        <p:spPr>
          <a:xfrm xmlns:a="http://schemas.openxmlformats.org/drawingml/2006/main">
            <a:off x="6477000" y="1809750"/>
            <a:ext cx="762000" cy="323850"/>
          </a:xfrm>
          <a:prstGeom xmlns:a="http://schemas.openxmlformats.org/drawingml/2006/main" prst="roundRect">
            <a:avLst>
              <a:gd name="adj" fmla="val 35294"/>
            </a:avLst>
          </a:prstGeom>
          <a:solidFill xmlns:a="http://schemas.openxmlformats.org/drawingml/2006/main">
            <a:srgbClr val="243442"/>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B980392-309D-484A-A18E-5E853F01BD96}"/>
              </a:ext>
            </a:extLst>
          </p:cNvPr>
          <p:cNvSpPr>
            <a:spLocks xmlns:a="http://schemas.openxmlformats.org/drawingml/2006/main" noGrp="1"/>
          </p:cNvSpPr>
          <p:nvPr/>
        </p:nvSpPr>
        <p:spPr>
          <a:xfrm xmlns:a="http://schemas.openxmlformats.org/drawingml/2006/main">
            <a:off x="6553200" y="1809750"/>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MONO</a:t>
            </a:r>
          </a:p>
        </p:txBody>
      </p:sp>
      <p:sp>
        <p:nvSpPr>
          <p:cNvPr id="10" name="">
            <a:extLst xmlns:a="http://schemas.openxmlformats.org/drawingml/2006/main">
              <a:ext uri="{FF2B5EF4-FFF2-40B4-BE49-F238E27FC236}">
                <a16:creationId xmlns:a16="http://schemas.microsoft.com/office/drawing/2014/main" id="{5671A0FC-F096-408E-98BB-E14717DE06AD}"/>
              </a:ext>
            </a:extLst>
          </p:cNvPr>
          <p:cNvSpPr>
            <a:spLocks xmlns:a="http://schemas.openxmlformats.org/drawingml/2006/main" noGrp="1"/>
          </p:cNvSpPr>
          <p:nvPr/>
        </p:nvSpPr>
        <p:spPr>
          <a:xfrm xmlns:a="http://schemas.openxmlformats.org/drawingml/2006/main">
            <a:off x="781050" y="2381250"/>
            <a:ext cx="1428750" cy="323850"/>
          </a:xfrm>
          <a:prstGeom xmlns:a="http://schemas.openxmlformats.org/drawingml/2006/main" prst="roundRect">
            <a:avLst>
              <a:gd name="adj" fmla="val 35294"/>
            </a:avLst>
          </a:prstGeom>
          <a:solidFill xmlns:a="http://schemas.openxmlformats.org/drawingml/2006/main">
            <a:srgbClr val="24344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0A9D6F7-110C-44C4-B532-AC2705A9FD8B}"/>
              </a:ext>
            </a:extLst>
          </p:cNvPr>
          <p:cNvSpPr>
            <a:spLocks xmlns:a="http://schemas.openxmlformats.org/drawingml/2006/main" noGrp="1"/>
          </p:cNvSpPr>
          <p:nvPr/>
        </p:nvSpPr>
        <p:spPr>
          <a:xfrm xmlns:a="http://schemas.openxmlformats.org/drawingml/2006/main">
            <a:off x="857250" y="23812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BYPASS</a:t>
            </a:r>
          </a:p>
        </p:txBody>
      </p:sp>
      <p:sp>
        <p:nvSpPr>
          <p:cNvPr id="12" name="">
            <a:extLst xmlns:a="http://schemas.openxmlformats.org/drawingml/2006/main">
              <a:ext uri="{FF2B5EF4-FFF2-40B4-BE49-F238E27FC236}">
                <a16:creationId xmlns:a16="http://schemas.microsoft.com/office/drawing/2014/main" id="{5EA65BA9-090A-4B4A-898C-3BF7CF35007A}"/>
              </a:ext>
            </a:extLst>
          </p:cNvPr>
          <p:cNvSpPr>
            <a:spLocks xmlns:a="http://schemas.openxmlformats.org/drawingml/2006/main" noGrp="1"/>
          </p:cNvSpPr>
          <p:nvPr/>
        </p:nvSpPr>
        <p:spPr>
          <a:xfrm xmlns:a="http://schemas.openxmlformats.org/drawingml/2006/main">
            <a:off x="2362200" y="2381250"/>
            <a:ext cx="1428750" cy="323850"/>
          </a:xfrm>
          <a:prstGeom xmlns:a="http://schemas.openxmlformats.org/drawingml/2006/main" prst="roundRect">
            <a:avLst>
              <a:gd name="adj" fmla="val 35294"/>
            </a:avLst>
          </a:prstGeom>
          <a:solidFill xmlns:a="http://schemas.openxmlformats.org/drawingml/2006/main">
            <a:srgbClr val="24344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118E345-DB59-4E81-989D-23FB635E06A0}"/>
              </a:ext>
            </a:extLst>
          </p:cNvPr>
          <p:cNvSpPr>
            <a:spLocks xmlns:a="http://schemas.openxmlformats.org/drawingml/2006/main" noGrp="1"/>
          </p:cNvSpPr>
          <p:nvPr/>
        </p:nvSpPr>
        <p:spPr>
          <a:xfrm xmlns:a="http://schemas.openxmlformats.org/drawingml/2006/main">
            <a:off x="2438400" y="23812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CALIBRATION</a:t>
            </a:r>
          </a:p>
        </p:txBody>
      </p:sp>
      <p:sp>
        <p:nvSpPr>
          <p:cNvPr id="14" name="">
            <a:extLst xmlns:a="http://schemas.openxmlformats.org/drawingml/2006/main">
              <a:ext uri="{FF2B5EF4-FFF2-40B4-BE49-F238E27FC236}">
                <a16:creationId xmlns:a16="http://schemas.microsoft.com/office/drawing/2014/main" id="{73F445CA-E0C8-43C4-87C7-18B3D943A7D2}"/>
              </a:ext>
            </a:extLst>
          </p:cNvPr>
          <p:cNvSpPr>
            <a:spLocks xmlns:a="http://schemas.openxmlformats.org/drawingml/2006/main" noGrp="1"/>
          </p:cNvSpPr>
          <p:nvPr/>
        </p:nvSpPr>
        <p:spPr>
          <a:xfrm xmlns:a="http://schemas.openxmlformats.org/drawingml/2006/main">
            <a:off x="3943350" y="2381250"/>
            <a:ext cx="1428750" cy="323850"/>
          </a:xfrm>
          <a:prstGeom xmlns:a="http://schemas.openxmlformats.org/drawingml/2006/main" prst="roundRect">
            <a:avLst>
              <a:gd name="adj" fmla="val 35294"/>
            </a:avLst>
          </a:prstGeom>
          <a:solidFill xmlns:a="http://schemas.openxmlformats.org/drawingml/2006/main">
            <a:srgbClr val="1769E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FE26C0E-CC76-4310-8FF4-9128281583F4}"/>
              </a:ext>
            </a:extLst>
          </p:cNvPr>
          <p:cNvSpPr>
            <a:spLocks xmlns:a="http://schemas.openxmlformats.org/drawingml/2006/main" noGrp="1"/>
          </p:cNvSpPr>
          <p:nvPr/>
        </p:nvSpPr>
        <p:spPr>
          <a:xfrm xmlns:a="http://schemas.openxmlformats.org/drawingml/2006/main">
            <a:off x="4019550" y="23812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CANCELLING</a:t>
            </a:r>
          </a:p>
        </p:txBody>
      </p:sp>
      <p:sp>
        <p:nvSpPr>
          <p:cNvPr id="16" name="">
            <a:extLst xmlns:a="http://schemas.openxmlformats.org/drawingml/2006/main">
              <a:ext uri="{FF2B5EF4-FFF2-40B4-BE49-F238E27FC236}">
                <a16:creationId xmlns:a16="http://schemas.microsoft.com/office/drawing/2014/main" id="{208659C3-D842-4882-BA72-D8C0EEBA35EA}"/>
              </a:ext>
            </a:extLst>
          </p:cNvPr>
          <p:cNvSpPr>
            <a:spLocks xmlns:a="http://schemas.openxmlformats.org/drawingml/2006/main" noGrp="1"/>
          </p:cNvSpPr>
          <p:nvPr/>
        </p:nvSpPr>
        <p:spPr>
          <a:xfrm xmlns:a="http://schemas.openxmlformats.org/drawingml/2006/main">
            <a:off x="5524500" y="2381250"/>
            <a:ext cx="1428750" cy="323850"/>
          </a:xfrm>
          <a:prstGeom xmlns:a="http://schemas.openxmlformats.org/drawingml/2006/main" prst="roundRect">
            <a:avLst>
              <a:gd name="adj" fmla="val 35294"/>
            </a:avLst>
          </a:prstGeom>
          <a:solidFill xmlns:a="http://schemas.openxmlformats.org/drawingml/2006/main">
            <a:srgbClr val="24344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72384D1-E1F6-43C5-AB8A-2A7EA5E5A63F}"/>
              </a:ext>
            </a:extLst>
          </p:cNvPr>
          <p:cNvSpPr>
            <a:spLocks xmlns:a="http://schemas.openxmlformats.org/drawingml/2006/main" noGrp="1"/>
          </p:cNvSpPr>
          <p:nvPr/>
        </p:nvSpPr>
        <p:spPr>
          <a:xfrm xmlns:a="http://schemas.openxmlformats.org/drawingml/2006/main">
            <a:off x="5600700" y="2381250"/>
            <a:ext cx="127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latin typeface="Arial"/>
                <a:ea typeface="Arial"/>
                <a:cs typeface="Arial"/>
              </a:defRPr>
            </a:pPr>
            <a:r>
              <a:rPr sz="1200" b="1">
                <a:solidFill>
                  <a:srgbClr val="FFFFFF"/>
                </a:solidFill>
                <a:latin typeface="Arial"/>
                <a:ea typeface="Arial"/>
                <a:cs typeface="Arial"/>
              </a:rPr>
              <a:t>RECALIBRATION</a:t>
            </a:r>
          </a:p>
        </p:txBody>
      </p:sp>
      <p:sp>
        <p:nvSpPr>
          <p:cNvPr id="18" name="">
            <a:extLst xmlns:a="http://schemas.openxmlformats.org/drawingml/2006/main">
              <a:ext uri="{FF2B5EF4-FFF2-40B4-BE49-F238E27FC236}">
                <a16:creationId xmlns:a16="http://schemas.microsoft.com/office/drawing/2014/main" id="{ED207707-E2D5-4593-808C-EE0C62907C31}"/>
              </a:ext>
            </a:extLst>
          </p:cNvPr>
          <p:cNvSpPr>
            <a:spLocks xmlns:a="http://schemas.openxmlformats.org/drawingml/2006/main" noGrp="1"/>
          </p:cNvSpPr>
          <p:nvPr/>
        </p:nvSpPr>
        <p:spPr>
          <a:xfrm xmlns:a="http://schemas.openxmlformats.org/drawingml/2006/main">
            <a:off x="781050" y="29146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9FB2C2"/>
                </a:solidFill>
                <a:latin typeface="Arial"/>
                <a:ea typeface="Arial"/>
                <a:cs typeface="Arial"/>
              </a:defRPr>
            </a:pPr>
            <a:r>
              <a:rPr sz="1200" b="1">
                <a:solidFill>
                  <a:srgbClr val="9FB2C2"/>
                </a:solidFill>
                <a:latin typeface="Arial"/>
                <a:ea typeface="Arial"/>
                <a:cs typeface="Arial"/>
              </a:rPr>
              <a:t>ESTADO ACTUAL</a:t>
            </a:r>
          </a:p>
        </p:txBody>
      </p:sp>
      <p:sp>
        <p:nvSpPr>
          <p:cNvPr id="19" name="">
            <a:extLst xmlns:a="http://schemas.openxmlformats.org/drawingml/2006/main">
              <a:ext uri="{FF2B5EF4-FFF2-40B4-BE49-F238E27FC236}">
                <a16:creationId xmlns:a16="http://schemas.microsoft.com/office/drawing/2014/main" id="{AE7F98C8-238E-447F-B4AD-57439B3959A3}"/>
              </a:ext>
            </a:extLst>
          </p:cNvPr>
          <p:cNvSpPr>
            <a:spLocks xmlns:a="http://schemas.openxmlformats.org/drawingml/2006/main" noGrp="1"/>
          </p:cNvSpPr>
          <p:nvPr/>
        </p:nvSpPr>
        <p:spPr>
          <a:xfrm xmlns:a="http://schemas.openxmlformats.org/drawingml/2006/main">
            <a:off x="781050" y="3152775"/>
            <a:ext cx="2476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325" b="1">
                <a:solidFill>
                  <a:srgbClr val="FFFFFF"/>
                </a:solidFill>
                <a:latin typeface="Arial"/>
                <a:ea typeface="Arial"/>
                <a:cs typeface="Arial"/>
              </a:defRPr>
            </a:pPr>
            <a:r>
              <a:rPr sz="2325" b="1">
                <a:solidFill>
                  <a:srgbClr val="FFFFFF"/>
                </a:solidFill>
                <a:latin typeface="Arial"/>
                <a:ea typeface="Arial"/>
                <a:cs typeface="Arial"/>
              </a:rPr>
              <a:t>CANCELLING</a:t>
            </a:r>
          </a:p>
        </p:txBody>
      </p:sp>
      <p:sp>
        <p:nvSpPr>
          <p:cNvPr id="20" name="">
            <a:extLst xmlns:a="http://schemas.openxmlformats.org/drawingml/2006/main">
              <a:ext uri="{FF2B5EF4-FFF2-40B4-BE49-F238E27FC236}">
                <a16:creationId xmlns:a16="http://schemas.microsoft.com/office/drawing/2014/main" id="{6631360C-C0F2-4C36-828C-6766C0E2197A}"/>
              </a:ext>
            </a:extLst>
          </p:cNvPr>
          <p:cNvSpPr>
            <a:spLocks xmlns:a="http://schemas.openxmlformats.org/drawingml/2006/main" noGrp="1"/>
          </p:cNvSpPr>
          <p:nvPr/>
        </p:nvSpPr>
        <p:spPr>
          <a:xfrm xmlns:a="http://schemas.openxmlformats.org/drawingml/2006/main">
            <a:off x="781050" y="38576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9FB2C2"/>
                </a:solidFill>
                <a:latin typeface="Arial"/>
                <a:ea typeface="Arial"/>
                <a:cs typeface="Arial"/>
              </a:defRPr>
            </a:pPr>
            <a:r>
              <a:rPr sz="1350" b="0">
                <a:solidFill>
                  <a:srgbClr val="9FB2C2"/>
                </a:solidFill>
                <a:latin typeface="Arial"/>
                <a:ea typeface="Arial"/>
                <a:cs typeface="Arial"/>
              </a:rPr>
              <a:t>FIR estimado</a:t>
            </a:r>
          </a:p>
        </p:txBody>
      </p:sp>
      <p:sp>
        <p:nvSpPr>
          <p:cNvPr id="21" name="">
            <a:extLst xmlns:a="http://schemas.openxmlformats.org/drawingml/2006/main">
              <a:ext uri="{FF2B5EF4-FFF2-40B4-BE49-F238E27FC236}">
                <a16:creationId xmlns:a16="http://schemas.microsoft.com/office/drawing/2014/main" id="{4CD354CC-94E5-47D7-B42B-3DC49E64EB47}"/>
              </a:ext>
            </a:extLst>
          </p:cNvPr>
          <p:cNvSpPr>
            <a:spLocks xmlns:a="http://schemas.openxmlformats.org/drawingml/2006/main" noGrp="1"/>
          </p:cNvSpPr>
          <p:nvPr/>
        </p:nvSpPr>
        <p:spPr>
          <a:xfrm xmlns:a="http://schemas.openxmlformats.org/drawingml/2006/main">
            <a:off x="819150" y="4610100"/>
            <a:ext cx="161925" cy="152400"/>
          </a:xfrm>
          <a:prstGeom xmlns:a="http://schemas.openxmlformats.org/drawingml/2006/main" prst="rect">
            <a:avLst/>
          </a:prstGeom>
          <a:solidFill xmlns:a="http://schemas.openxmlformats.org/drawingml/2006/main">
            <a:srgbClr val="55C3F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3736AAB-FDC2-41EC-B1D3-18277E5F1FE5}"/>
              </a:ext>
            </a:extLst>
          </p:cNvPr>
          <p:cNvSpPr>
            <a:spLocks xmlns:a="http://schemas.openxmlformats.org/drawingml/2006/main" noGrp="1"/>
          </p:cNvSpPr>
          <p:nvPr/>
        </p:nvSpPr>
        <p:spPr>
          <a:xfrm xmlns:a="http://schemas.openxmlformats.org/drawingml/2006/main">
            <a:off x="1095375" y="4333875"/>
            <a:ext cx="161925" cy="428625"/>
          </a:xfrm>
          <a:prstGeom xmlns:a="http://schemas.openxmlformats.org/drawingml/2006/main" prst="rect">
            <a:avLst/>
          </a:prstGeom>
          <a:solidFill xmlns:a="http://schemas.openxmlformats.org/drawingml/2006/main">
            <a:srgbClr val="55C3F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A6BD67B-1509-4B9B-8C99-1CC01972B51D}"/>
              </a:ext>
            </a:extLst>
          </p:cNvPr>
          <p:cNvSpPr>
            <a:spLocks xmlns:a="http://schemas.openxmlformats.org/drawingml/2006/main" noGrp="1"/>
          </p:cNvSpPr>
          <p:nvPr/>
        </p:nvSpPr>
        <p:spPr>
          <a:xfrm xmlns:a="http://schemas.openxmlformats.org/drawingml/2006/main">
            <a:off x="1371600" y="4610100"/>
            <a:ext cx="161925" cy="152400"/>
          </a:xfrm>
          <a:prstGeom xmlns:a="http://schemas.openxmlformats.org/drawingml/2006/main" prst="rect">
            <a:avLst/>
          </a:prstGeom>
          <a:solidFill xmlns:a="http://schemas.openxmlformats.org/drawingml/2006/main">
            <a:srgbClr val="55C3F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49C80CA-FE2E-4648-90E8-EF9D557613AE}"/>
              </a:ext>
            </a:extLst>
          </p:cNvPr>
          <p:cNvSpPr>
            <a:spLocks xmlns:a="http://schemas.openxmlformats.org/drawingml/2006/main" noGrp="1"/>
          </p:cNvSpPr>
          <p:nvPr/>
        </p:nvSpPr>
        <p:spPr>
          <a:xfrm xmlns:a="http://schemas.openxmlformats.org/drawingml/2006/main">
            <a:off x="1647825" y="4333875"/>
            <a:ext cx="161925" cy="428625"/>
          </a:xfrm>
          <a:prstGeom xmlns:a="http://schemas.openxmlformats.org/drawingml/2006/main" prst="rect">
            <a:avLst/>
          </a:prstGeom>
          <a:solidFill xmlns:a="http://schemas.openxmlformats.org/drawingml/2006/main">
            <a:srgbClr val="55C3F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8A22487-6AAE-40A1-AC1E-B831F90EAF8D}"/>
              </a:ext>
            </a:extLst>
          </p:cNvPr>
          <p:cNvSpPr>
            <a:spLocks xmlns:a="http://schemas.openxmlformats.org/drawingml/2006/main" noGrp="1"/>
          </p:cNvSpPr>
          <p:nvPr/>
        </p:nvSpPr>
        <p:spPr>
          <a:xfrm xmlns:a="http://schemas.openxmlformats.org/drawingml/2006/main">
            <a:off x="1924050" y="4610100"/>
            <a:ext cx="161925" cy="152400"/>
          </a:xfrm>
          <a:prstGeom xmlns:a="http://schemas.openxmlformats.org/drawingml/2006/main" prst="rect">
            <a:avLst/>
          </a:prstGeom>
          <a:solidFill xmlns:a="http://schemas.openxmlformats.org/drawingml/2006/main">
            <a:srgbClr val="55C3F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CF2E9B4-42FF-42F3-AEE7-8AD2AB2CC9A6}"/>
              </a:ext>
            </a:extLst>
          </p:cNvPr>
          <p:cNvSpPr>
            <a:spLocks xmlns:a="http://schemas.openxmlformats.org/drawingml/2006/main" noGrp="1"/>
          </p:cNvSpPr>
          <p:nvPr/>
        </p:nvSpPr>
        <p:spPr>
          <a:xfrm xmlns:a="http://schemas.openxmlformats.org/drawingml/2006/main">
            <a:off x="2200275" y="4333875"/>
            <a:ext cx="161925" cy="428625"/>
          </a:xfrm>
          <a:prstGeom xmlns:a="http://schemas.openxmlformats.org/drawingml/2006/main" prst="rect">
            <a:avLst/>
          </a:prstGeom>
          <a:solidFill xmlns:a="http://schemas.openxmlformats.org/drawingml/2006/main">
            <a:srgbClr val="55C3F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AE83E38-141C-4788-9128-36FA8B4BA527}"/>
              </a:ext>
            </a:extLst>
          </p:cNvPr>
          <p:cNvSpPr>
            <a:spLocks xmlns:a="http://schemas.openxmlformats.org/drawingml/2006/main" noGrp="1"/>
          </p:cNvSpPr>
          <p:nvPr/>
        </p:nvSpPr>
        <p:spPr>
          <a:xfrm xmlns:a="http://schemas.openxmlformats.org/drawingml/2006/main">
            <a:off x="2476500" y="4610100"/>
            <a:ext cx="161925" cy="152400"/>
          </a:xfrm>
          <a:prstGeom xmlns:a="http://schemas.openxmlformats.org/drawingml/2006/main" prst="rect">
            <a:avLst/>
          </a:prstGeom>
          <a:solidFill xmlns:a="http://schemas.openxmlformats.org/drawingml/2006/main">
            <a:srgbClr val="55C3F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C24434B-3507-4191-ABAC-E64D83D319BF}"/>
              </a:ext>
            </a:extLst>
          </p:cNvPr>
          <p:cNvSpPr>
            <a:spLocks xmlns:a="http://schemas.openxmlformats.org/drawingml/2006/main" noGrp="1"/>
          </p:cNvSpPr>
          <p:nvPr/>
        </p:nvSpPr>
        <p:spPr>
          <a:xfrm xmlns:a="http://schemas.openxmlformats.org/drawingml/2006/main">
            <a:off x="2752725" y="4333875"/>
            <a:ext cx="161925" cy="428625"/>
          </a:xfrm>
          <a:prstGeom xmlns:a="http://schemas.openxmlformats.org/drawingml/2006/main" prst="rect">
            <a:avLst/>
          </a:prstGeom>
          <a:solidFill xmlns:a="http://schemas.openxmlformats.org/drawingml/2006/main">
            <a:srgbClr val="1769E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1723418-0F41-4A48-B54B-D36AE83208D4}"/>
              </a:ext>
            </a:extLst>
          </p:cNvPr>
          <p:cNvSpPr>
            <a:spLocks xmlns:a="http://schemas.openxmlformats.org/drawingml/2006/main" noGrp="1"/>
          </p:cNvSpPr>
          <p:nvPr/>
        </p:nvSpPr>
        <p:spPr>
          <a:xfrm xmlns:a="http://schemas.openxmlformats.org/drawingml/2006/main">
            <a:off x="3028950" y="4610100"/>
            <a:ext cx="161925" cy="152400"/>
          </a:xfrm>
          <a:prstGeom xmlns:a="http://schemas.openxmlformats.org/drawingml/2006/main" prst="rect">
            <a:avLst/>
          </a:prstGeom>
          <a:solidFill xmlns:a="http://schemas.openxmlformats.org/drawingml/2006/main">
            <a:srgbClr val="1769E0"/>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C9FD8BC-9177-4226-BA6A-1F7C2D3DAEA7}"/>
              </a:ext>
            </a:extLst>
          </p:cNvPr>
          <p:cNvSpPr>
            <a:spLocks xmlns:a="http://schemas.openxmlformats.org/drawingml/2006/main" noGrp="1"/>
          </p:cNvSpPr>
          <p:nvPr/>
        </p:nvSpPr>
        <p:spPr>
          <a:xfrm xmlns:a="http://schemas.openxmlformats.org/drawingml/2006/main">
            <a:off x="3305175" y="4333875"/>
            <a:ext cx="161925" cy="428625"/>
          </a:xfrm>
          <a:prstGeom xmlns:a="http://schemas.openxmlformats.org/drawingml/2006/main" prst="rect">
            <a:avLst/>
          </a:prstGeom>
          <a:solidFill xmlns:a="http://schemas.openxmlformats.org/drawingml/2006/main">
            <a:srgbClr val="1769E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EF1F854-14DA-4E70-B192-31405B740B1B}"/>
              </a:ext>
            </a:extLst>
          </p:cNvPr>
          <p:cNvSpPr>
            <a:spLocks xmlns:a="http://schemas.openxmlformats.org/drawingml/2006/main" noGrp="1"/>
          </p:cNvSpPr>
          <p:nvPr/>
        </p:nvSpPr>
        <p:spPr>
          <a:xfrm xmlns:a="http://schemas.openxmlformats.org/drawingml/2006/main">
            <a:off x="3581400" y="4610100"/>
            <a:ext cx="161925" cy="152400"/>
          </a:xfrm>
          <a:prstGeom xmlns:a="http://schemas.openxmlformats.org/drawingml/2006/main" prst="rect">
            <a:avLst/>
          </a:prstGeom>
          <a:solidFill xmlns:a="http://schemas.openxmlformats.org/drawingml/2006/main">
            <a:srgbClr val="1769E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9BAEB91-5F7D-4A05-8702-2D5241C07F83}"/>
              </a:ext>
            </a:extLst>
          </p:cNvPr>
          <p:cNvSpPr>
            <a:spLocks xmlns:a="http://schemas.openxmlformats.org/drawingml/2006/main" noGrp="1"/>
          </p:cNvSpPr>
          <p:nvPr/>
        </p:nvSpPr>
        <p:spPr>
          <a:xfrm xmlns:a="http://schemas.openxmlformats.org/drawingml/2006/main">
            <a:off x="3857625" y="4333875"/>
            <a:ext cx="161925" cy="428625"/>
          </a:xfrm>
          <a:prstGeom xmlns:a="http://schemas.openxmlformats.org/drawingml/2006/main" prst="rect">
            <a:avLst/>
          </a:prstGeom>
          <a:solidFill xmlns:a="http://schemas.openxmlformats.org/drawingml/2006/main">
            <a:srgbClr val="1769E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5812995-DBC6-4A1F-845A-AFED30390F90}"/>
              </a:ext>
            </a:extLst>
          </p:cNvPr>
          <p:cNvSpPr>
            <a:spLocks xmlns:a="http://schemas.openxmlformats.org/drawingml/2006/main" noGrp="1"/>
          </p:cNvSpPr>
          <p:nvPr/>
        </p:nvSpPr>
        <p:spPr>
          <a:xfrm xmlns:a="http://schemas.openxmlformats.org/drawingml/2006/main">
            <a:off x="4133850" y="4610100"/>
            <a:ext cx="161925" cy="152400"/>
          </a:xfrm>
          <a:prstGeom xmlns:a="http://schemas.openxmlformats.org/drawingml/2006/main" prst="rect">
            <a:avLst/>
          </a:prstGeom>
          <a:solidFill xmlns:a="http://schemas.openxmlformats.org/drawingml/2006/main">
            <a:srgbClr val="1769E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E5B125F-9129-42D1-9B92-375350116C8A}"/>
              </a:ext>
            </a:extLst>
          </p:cNvPr>
          <p:cNvSpPr>
            <a:spLocks xmlns:a="http://schemas.openxmlformats.org/drawingml/2006/main" noGrp="1"/>
          </p:cNvSpPr>
          <p:nvPr/>
        </p:nvSpPr>
        <p:spPr>
          <a:xfrm xmlns:a="http://schemas.openxmlformats.org/drawingml/2006/main">
            <a:off x="4410075" y="4333875"/>
            <a:ext cx="161925" cy="428625"/>
          </a:xfrm>
          <a:prstGeom xmlns:a="http://schemas.openxmlformats.org/drawingml/2006/main" prst="rect">
            <a:avLst/>
          </a:prstGeom>
          <a:solidFill xmlns:a="http://schemas.openxmlformats.org/drawingml/2006/main">
            <a:srgbClr val="1769E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CE8964BE-736B-4065-A715-0FF7ADCE14C7}"/>
              </a:ext>
            </a:extLst>
          </p:cNvPr>
          <p:cNvSpPr>
            <a:spLocks xmlns:a="http://schemas.openxmlformats.org/drawingml/2006/main" noGrp="1"/>
          </p:cNvSpPr>
          <p:nvPr/>
        </p:nvSpPr>
        <p:spPr>
          <a:xfrm xmlns:a="http://schemas.openxmlformats.org/drawingml/2006/main">
            <a:off x="4895850" y="38576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9FB2C2"/>
                </a:solidFill>
                <a:latin typeface="Arial"/>
                <a:ea typeface="Arial"/>
                <a:cs typeface="Arial"/>
              </a:defRPr>
            </a:pPr>
            <a:r>
              <a:rPr sz="1350" b="0">
                <a:solidFill>
                  <a:srgbClr val="9FB2C2"/>
                </a:solidFill>
                <a:latin typeface="Arial"/>
                <a:ea typeface="Arial"/>
                <a:cs typeface="Arial"/>
              </a:rPr>
              <a:t>callback p50 / p95 / p99</a:t>
            </a:r>
          </a:p>
        </p:txBody>
      </p:sp>
      <p:sp>
        <p:nvSpPr>
          <p:cNvPr id="36" name="">
            <a:extLst xmlns:a="http://schemas.openxmlformats.org/drawingml/2006/main">
              <a:ext uri="{FF2B5EF4-FFF2-40B4-BE49-F238E27FC236}">
                <a16:creationId xmlns:a16="http://schemas.microsoft.com/office/drawing/2014/main" id="{23DB9483-4ACD-4F2A-BD1B-8C6BF94BA7DF}"/>
              </a:ext>
            </a:extLst>
          </p:cNvPr>
          <p:cNvSpPr>
            <a:spLocks xmlns:a="http://schemas.openxmlformats.org/drawingml/2006/main" noGrp="1"/>
          </p:cNvSpPr>
          <p:nvPr/>
        </p:nvSpPr>
        <p:spPr>
          <a:xfrm xmlns:a="http://schemas.openxmlformats.org/drawingml/2006/main">
            <a:off x="4895850" y="418147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FFFFFF"/>
                </a:solidFill>
                <a:latin typeface="Arial"/>
                <a:ea typeface="Arial"/>
                <a:cs typeface="Arial"/>
              </a:defRPr>
            </a:pPr>
            <a:r>
              <a:rPr sz="1725" b="1">
                <a:solidFill>
                  <a:srgbClr val="FFFFFF"/>
                </a:solidFill>
                <a:latin typeface="Arial"/>
                <a:ea typeface="Arial"/>
                <a:cs typeface="Arial"/>
              </a:rPr>
              <a:t>telemetría en vivo</a:t>
            </a:r>
          </a:p>
        </p:txBody>
      </p:sp>
      <p:sp>
        <p:nvSpPr>
          <p:cNvPr id="37" name="">
            <a:extLst xmlns:a="http://schemas.openxmlformats.org/drawingml/2006/main">
              <a:ext uri="{FF2B5EF4-FFF2-40B4-BE49-F238E27FC236}">
                <a16:creationId xmlns:a16="http://schemas.microsoft.com/office/drawing/2014/main" id="{9841020D-4759-45DC-AAA4-948F18A25E33}"/>
              </a:ext>
            </a:extLst>
          </p:cNvPr>
          <p:cNvSpPr>
            <a:spLocks xmlns:a="http://schemas.openxmlformats.org/drawingml/2006/main" noGrp="1"/>
          </p:cNvSpPr>
          <p:nvPr/>
        </p:nvSpPr>
        <p:spPr>
          <a:xfrm xmlns:a="http://schemas.openxmlformats.org/drawingml/2006/main">
            <a:off x="4895850" y="4819650"/>
            <a:ext cx="1066800" cy="323850"/>
          </a:xfrm>
          <a:prstGeom xmlns:a="http://schemas.openxmlformats.org/drawingml/2006/main" prst="roundRect">
            <a:avLst>
              <a:gd name="adj" fmla="val 35294"/>
            </a:avLst>
          </a:prstGeom>
          <a:solidFill xmlns:a="http://schemas.openxmlformats.org/drawingml/2006/main">
            <a:srgbClr val="243442"/>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B2C7D38-AE12-4F76-A89B-B937A07F555E}"/>
              </a:ext>
            </a:extLst>
          </p:cNvPr>
          <p:cNvSpPr>
            <a:spLocks xmlns:a="http://schemas.openxmlformats.org/drawingml/2006/main" noGrp="1"/>
          </p:cNvSpPr>
          <p:nvPr/>
        </p:nvSpPr>
        <p:spPr>
          <a:xfrm xmlns:a="http://schemas.openxmlformats.org/drawingml/2006/main">
            <a:off x="4972050" y="4819650"/>
            <a:ext cx="91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55C3F0"/>
                </a:solidFill>
                <a:latin typeface="Arial"/>
                <a:ea typeface="Arial"/>
                <a:cs typeface="Arial"/>
              </a:defRPr>
            </a:pPr>
            <a:r>
              <a:rPr sz="1200" b="1">
                <a:solidFill>
                  <a:srgbClr val="55C3F0"/>
                </a:solidFill>
                <a:latin typeface="Arial"/>
                <a:ea typeface="Arial"/>
                <a:cs typeface="Arial"/>
              </a:rPr>
              <a:t>SIN LOCKS</a:t>
            </a:r>
          </a:p>
        </p:txBody>
      </p:sp>
      <p:sp>
        <p:nvSpPr>
          <p:cNvPr id="39" name="">
            <a:extLst xmlns:a="http://schemas.openxmlformats.org/drawingml/2006/main">
              <a:ext uri="{FF2B5EF4-FFF2-40B4-BE49-F238E27FC236}">
                <a16:creationId xmlns:a16="http://schemas.microsoft.com/office/drawing/2014/main" id="{E867C54E-1066-40FE-9278-C24E6C1BD0B1}"/>
              </a:ext>
            </a:extLst>
          </p:cNvPr>
          <p:cNvSpPr>
            <a:spLocks xmlns:a="http://schemas.openxmlformats.org/drawingml/2006/main" noGrp="1"/>
          </p:cNvSpPr>
          <p:nvPr/>
        </p:nvSpPr>
        <p:spPr>
          <a:xfrm xmlns:a="http://schemas.openxmlformats.org/drawingml/2006/main">
            <a:off x="6076950" y="4819650"/>
            <a:ext cx="1066800" cy="323850"/>
          </a:xfrm>
          <a:prstGeom xmlns:a="http://schemas.openxmlformats.org/drawingml/2006/main" prst="roundRect">
            <a:avLst>
              <a:gd name="adj" fmla="val 35294"/>
            </a:avLst>
          </a:prstGeom>
          <a:solidFill xmlns:a="http://schemas.openxmlformats.org/drawingml/2006/main">
            <a:srgbClr val="243442"/>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F7369E1-50CA-4E4C-8931-64966582F5B1}"/>
              </a:ext>
            </a:extLst>
          </p:cNvPr>
          <p:cNvSpPr>
            <a:spLocks xmlns:a="http://schemas.openxmlformats.org/drawingml/2006/main" noGrp="1"/>
          </p:cNvSpPr>
          <p:nvPr/>
        </p:nvSpPr>
        <p:spPr>
          <a:xfrm xmlns:a="http://schemas.openxmlformats.org/drawingml/2006/main">
            <a:off x="6153150" y="4819650"/>
            <a:ext cx="91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55C3F0"/>
                </a:solidFill>
                <a:latin typeface="Arial"/>
                <a:ea typeface="Arial"/>
                <a:cs typeface="Arial"/>
              </a:defRPr>
            </a:pPr>
            <a:r>
              <a:rPr sz="1200" b="1">
                <a:solidFill>
                  <a:srgbClr val="55C3F0"/>
                </a:solidFill>
                <a:latin typeface="Arial"/>
                <a:ea typeface="Arial"/>
                <a:cs typeface="Arial"/>
              </a:rPr>
              <a:t>SIN ALLOC</a:t>
            </a:r>
          </a:p>
        </p:txBody>
      </p:sp>
      <p:sp>
        <p:nvSpPr>
          <p:cNvPr id="41" name="">
            <a:extLst xmlns:a="http://schemas.openxmlformats.org/drawingml/2006/main">
              <a:ext uri="{FF2B5EF4-FFF2-40B4-BE49-F238E27FC236}">
                <a16:creationId xmlns:a16="http://schemas.microsoft.com/office/drawing/2014/main" id="{9CC8FE46-08A4-44F5-8B98-520A56B19C32}"/>
              </a:ext>
            </a:extLst>
          </p:cNvPr>
          <p:cNvSpPr>
            <a:spLocks xmlns:a="http://schemas.openxmlformats.org/drawingml/2006/main" noGrp="1"/>
          </p:cNvSpPr>
          <p:nvPr/>
        </p:nvSpPr>
        <p:spPr>
          <a:xfrm xmlns:a="http://schemas.openxmlformats.org/drawingml/2006/main">
            <a:off x="8020050" y="1695450"/>
            <a:ext cx="457200" cy="457200"/>
          </a:xfrm>
          <a:prstGeom xmlns:a="http://schemas.openxmlformats.org/drawingml/2006/main" prst="ellipse">
            <a:avLst/>
          </a:prstGeom>
          <a:solidFill xmlns:a="http://schemas.openxmlformats.org/drawingml/2006/main">
            <a:srgbClr val="1769E0"/>
          </a:solidFill>
          <a:ln xmlns:a="http://schemas.openxmlformats.org/drawingml/2006/main" w="0">
            <a:solidFill>
              <a:srgbClr val="1769E0"/>
            </a:solidFill>
            <a:prstDash val="solid"/>
          </a:ln>
        </p:spPr>
      </p:sp>
      <p:sp>
        <p:nvSpPr>
          <p:cNvPr id="42" name="">
            <a:extLst xmlns:a="http://schemas.openxmlformats.org/drawingml/2006/main">
              <a:ext uri="{FF2B5EF4-FFF2-40B4-BE49-F238E27FC236}">
                <a16:creationId xmlns:a16="http://schemas.microsoft.com/office/drawing/2014/main" id="{6848DA6D-1508-455F-8619-E111CCB9B495}"/>
              </a:ext>
            </a:extLst>
          </p:cNvPr>
          <p:cNvSpPr>
            <a:spLocks xmlns:a="http://schemas.openxmlformats.org/drawingml/2006/main" noGrp="1"/>
          </p:cNvSpPr>
          <p:nvPr/>
        </p:nvSpPr>
        <p:spPr>
          <a:xfrm xmlns:a="http://schemas.openxmlformats.org/drawingml/2006/main">
            <a:off x="8020050" y="16954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a:t>
            </a:r>
          </a:p>
        </p:txBody>
      </p:sp>
      <p:sp>
        <p:nvSpPr>
          <p:cNvPr id="43" name="">
            <a:extLst xmlns:a="http://schemas.openxmlformats.org/drawingml/2006/main">
              <a:ext uri="{FF2B5EF4-FFF2-40B4-BE49-F238E27FC236}">
                <a16:creationId xmlns:a16="http://schemas.microsoft.com/office/drawing/2014/main" id="{A895E71E-E353-49E3-9076-020AD6AC4540}"/>
              </a:ext>
            </a:extLst>
          </p:cNvPr>
          <p:cNvSpPr>
            <a:spLocks xmlns:a="http://schemas.openxmlformats.org/drawingml/2006/main" noGrp="1"/>
          </p:cNvSpPr>
          <p:nvPr/>
        </p:nvSpPr>
        <p:spPr>
          <a:xfrm xmlns:a="http://schemas.openxmlformats.org/drawingml/2006/main">
            <a:off x="8648700" y="165735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Simulador</a:t>
            </a:r>
          </a:p>
        </p:txBody>
      </p:sp>
      <p:sp>
        <p:nvSpPr>
          <p:cNvPr id="44" name="">
            <a:extLst xmlns:a="http://schemas.openxmlformats.org/drawingml/2006/main">
              <a:ext uri="{FF2B5EF4-FFF2-40B4-BE49-F238E27FC236}">
                <a16:creationId xmlns:a16="http://schemas.microsoft.com/office/drawing/2014/main" id="{D6D2C5BA-FEF8-47B6-95AB-DBDF088ABE18}"/>
              </a:ext>
            </a:extLst>
          </p:cNvPr>
          <p:cNvSpPr>
            <a:spLocks xmlns:a="http://schemas.openxmlformats.org/drawingml/2006/main" noGrp="1"/>
          </p:cNvSpPr>
          <p:nvPr/>
        </p:nvSpPr>
        <p:spPr>
          <a:xfrm xmlns:a="http://schemas.openxmlformats.org/drawingml/2006/main">
            <a:off x="8648700" y="201930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B6472"/>
                </a:solidFill>
                <a:latin typeface="Arial"/>
                <a:ea typeface="Arial"/>
                <a:cs typeface="Arial"/>
              </a:defRPr>
            </a:pPr>
            <a:r>
              <a:rPr sz="1350" b="0">
                <a:solidFill>
                  <a:srgbClr val="5B6472"/>
                </a:solidFill>
                <a:latin typeface="Arial"/>
                <a:ea typeface="Arial"/>
                <a:cs typeface="Arial"/>
              </a:rPr>
              <a:t>Lazo cerrado y cambios de camino</a:t>
            </a:r>
          </a:p>
        </p:txBody>
      </p:sp>
      <p:sp>
        <p:nvSpPr>
          <p:cNvPr id="45" name="">
            <a:extLst xmlns:a="http://schemas.openxmlformats.org/drawingml/2006/main">
              <a:ext uri="{FF2B5EF4-FFF2-40B4-BE49-F238E27FC236}">
                <a16:creationId xmlns:a16="http://schemas.microsoft.com/office/drawing/2014/main" id="{81550857-7E81-4821-8211-13189C81001C}"/>
              </a:ext>
            </a:extLst>
          </p:cNvPr>
          <p:cNvSpPr>
            <a:spLocks xmlns:a="http://schemas.openxmlformats.org/drawingml/2006/main" noGrp="1"/>
          </p:cNvSpPr>
          <p:nvPr/>
        </p:nvSpPr>
        <p:spPr>
          <a:xfrm xmlns:a="http://schemas.openxmlformats.org/drawingml/2006/main">
            <a:off x="8020050" y="2705100"/>
            <a:ext cx="457200" cy="457200"/>
          </a:xfrm>
          <a:prstGeom xmlns:a="http://schemas.openxmlformats.org/drawingml/2006/main" prst="ellipse">
            <a:avLst/>
          </a:prstGeom>
          <a:solidFill xmlns:a="http://schemas.openxmlformats.org/drawingml/2006/main">
            <a:srgbClr val="1769E0"/>
          </a:solidFill>
          <a:ln xmlns:a="http://schemas.openxmlformats.org/drawingml/2006/main" w="0">
            <a:solidFill>
              <a:srgbClr val="1769E0"/>
            </a:solidFill>
            <a:prstDash val="solid"/>
          </a:ln>
        </p:spPr>
      </p:sp>
      <p:sp>
        <p:nvSpPr>
          <p:cNvPr id="46" name="">
            <a:extLst xmlns:a="http://schemas.openxmlformats.org/drawingml/2006/main">
              <a:ext uri="{FF2B5EF4-FFF2-40B4-BE49-F238E27FC236}">
                <a16:creationId xmlns:a16="http://schemas.microsoft.com/office/drawing/2014/main" id="{334BB5EB-817D-48C4-A5B9-DC90B92CAD40}"/>
              </a:ext>
            </a:extLst>
          </p:cNvPr>
          <p:cNvSpPr>
            <a:spLocks xmlns:a="http://schemas.openxmlformats.org/drawingml/2006/main" noGrp="1"/>
          </p:cNvSpPr>
          <p:nvPr/>
        </p:nvSpPr>
        <p:spPr>
          <a:xfrm xmlns:a="http://schemas.openxmlformats.org/drawingml/2006/main">
            <a:off x="8020050" y="27051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a:t>
            </a:r>
          </a:p>
        </p:txBody>
      </p:sp>
      <p:sp>
        <p:nvSpPr>
          <p:cNvPr id="47" name="">
            <a:extLst xmlns:a="http://schemas.openxmlformats.org/drawingml/2006/main">
              <a:ext uri="{FF2B5EF4-FFF2-40B4-BE49-F238E27FC236}">
                <a16:creationId xmlns:a16="http://schemas.microsoft.com/office/drawing/2014/main" id="{A2B506BA-5335-42FA-8E15-CC2F242ADA10}"/>
              </a:ext>
            </a:extLst>
          </p:cNvPr>
          <p:cNvSpPr>
            <a:spLocks xmlns:a="http://schemas.openxmlformats.org/drawingml/2006/main" noGrp="1"/>
          </p:cNvSpPr>
          <p:nvPr/>
        </p:nvSpPr>
        <p:spPr>
          <a:xfrm xmlns:a="http://schemas.openxmlformats.org/drawingml/2006/main">
            <a:off x="8648700" y="266700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Métricas</a:t>
            </a:r>
          </a:p>
        </p:txBody>
      </p:sp>
      <p:sp>
        <p:nvSpPr>
          <p:cNvPr id="48" name="">
            <a:extLst xmlns:a="http://schemas.openxmlformats.org/drawingml/2006/main">
              <a:ext uri="{FF2B5EF4-FFF2-40B4-BE49-F238E27FC236}">
                <a16:creationId xmlns:a16="http://schemas.microsoft.com/office/drawing/2014/main" id="{C4D10E61-A1AB-46D3-AADF-C375590B188C}"/>
              </a:ext>
            </a:extLst>
          </p:cNvPr>
          <p:cNvSpPr>
            <a:spLocks xmlns:a="http://schemas.openxmlformats.org/drawingml/2006/main" noGrp="1"/>
          </p:cNvSpPr>
          <p:nvPr/>
        </p:nvSpPr>
        <p:spPr>
          <a:xfrm xmlns:a="http://schemas.openxmlformats.org/drawingml/2006/main">
            <a:off x="8648700" y="302895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B6472"/>
                </a:solidFill>
                <a:latin typeface="Arial"/>
                <a:ea typeface="Arial"/>
                <a:cs typeface="Arial"/>
              </a:defRPr>
            </a:pPr>
            <a:r>
              <a:rPr sz="1350" b="0">
                <a:solidFill>
                  <a:srgbClr val="5B6472"/>
                </a:solidFill>
                <a:latin typeface="Arial"/>
                <a:ea typeface="Arial"/>
                <a:cs typeface="Arial"/>
              </a:rPr>
              <a:t>SI-SDR, ΔSNR, ERLE y coste</a:t>
            </a:r>
          </a:p>
        </p:txBody>
      </p:sp>
      <p:sp>
        <p:nvSpPr>
          <p:cNvPr id="49" name="">
            <a:extLst xmlns:a="http://schemas.openxmlformats.org/drawingml/2006/main">
              <a:ext uri="{FF2B5EF4-FFF2-40B4-BE49-F238E27FC236}">
                <a16:creationId xmlns:a16="http://schemas.microsoft.com/office/drawing/2014/main" id="{2E6437DC-CEAA-41B4-BE44-6645BDE3F26E}"/>
              </a:ext>
            </a:extLst>
          </p:cNvPr>
          <p:cNvSpPr>
            <a:spLocks xmlns:a="http://schemas.openxmlformats.org/drawingml/2006/main" noGrp="1"/>
          </p:cNvSpPr>
          <p:nvPr/>
        </p:nvSpPr>
        <p:spPr>
          <a:xfrm xmlns:a="http://schemas.openxmlformats.org/drawingml/2006/main">
            <a:off x="8020050" y="3714750"/>
            <a:ext cx="457200" cy="457200"/>
          </a:xfrm>
          <a:prstGeom xmlns:a="http://schemas.openxmlformats.org/drawingml/2006/main" prst="ellipse">
            <a:avLst/>
          </a:prstGeom>
          <a:solidFill xmlns:a="http://schemas.openxmlformats.org/drawingml/2006/main">
            <a:srgbClr val="1769E0"/>
          </a:solidFill>
          <a:ln xmlns:a="http://schemas.openxmlformats.org/drawingml/2006/main" w="0">
            <a:solidFill>
              <a:srgbClr val="1769E0"/>
            </a:solidFill>
            <a:prstDash val="solid"/>
          </a:ln>
        </p:spPr>
      </p:sp>
      <p:sp>
        <p:nvSpPr>
          <p:cNvPr id="50" name="">
            <a:extLst xmlns:a="http://schemas.openxmlformats.org/drawingml/2006/main">
              <a:ext uri="{FF2B5EF4-FFF2-40B4-BE49-F238E27FC236}">
                <a16:creationId xmlns:a16="http://schemas.microsoft.com/office/drawing/2014/main" id="{0C11AB5F-CE66-4FAA-949A-974680636268}"/>
              </a:ext>
            </a:extLst>
          </p:cNvPr>
          <p:cNvSpPr>
            <a:spLocks xmlns:a="http://schemas.openxmlformats.org/drawingml/2006/main" noGrp="1"/>
          </p:cNvSpPr>
          <p:nvPr/>
        </p:nvSpPr>
        <p:spPr>
          <a:xfrm xmlns:a="http://schemas.openxmlformats.org/drawingml/2006/main">
            <a:off x="8020050" y="371475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a:t>
            </a:r>
          </a:p>
        </p:txBody>
      </p:sp>
      <p:sp>
        <p:nvSpPr>
          <p:cNvPr id="51" name="">
            <a:extLst xmlns:a="http://schemas.openxmlformats.org/drawingml/2006/main">
              <a:ext uri="{FF2B5EF4-FFF2-40B4-BE49-F238E27FC236}">
                <a16:creationId xmlns:a16="http://schemas.microsoft.com/office/drawing/2014/main" id="{DBA938CF-4D73-4CF1-8860-F315AB5D3DEA}"/>
              </a:ext>
            </a:extLst>
          </p:cNvPr>
          <p:cNvSpPr>
            <a:spLocks xmlns:a="http://schemas.openxmlformats.org/drawingml/2006/main" noGrp="1"/>
          </p:cNvSpPr>
          <p:nvPr/>
        </p:nvSpPr>
        <p:spPr>
          <a:xfrm xmlns:a="http://schemas.openxmlformats.org/drawingml/2006/main">
            <a:off x="8648700" y="367665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Evidencia</a:t>
            </a:r>
          </a:p>
        </p:txBody>
      </p:sp>
      <p:sp>
        <p:nvSpPr>
          <p:cNvPr id="52" name="">
            <a:extLst xmlns:a="http://schemas.openxmlformats.org/drawingml/2006/main">
              <a:ext uri="{FF2B5EF4-FFF2-40B4-BE49-F238E27FC236}">
                <a16:creationId xmlns:a16="http://schemas.microsoft.com/office/drawing/2014/main" id="{8913138B-4605-4FFE-B378-9E0591D2DC6E}"/>
              </a:ext>
            </a:extLst>
          </p:cNvPr>
          <p:cNvSpPr>
            <a:spLocks xmlns:a="http://schemas.openxmlformats.org/drawingml/2006/main" noGrp="1"/>
          </p:cNvSpPr>
          <p:nvPr/>
        </p:nvSpPr>
        <p:spPr>
          <a:xfrm xmlns:a="http://schemas.openxmlformats.org/drawingml/2006/main">
            <a:off x="8648700" y="403860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B6472"/>
                </a:solidFill>
                <a:latin typeface="Arial"/>
                <a:ea typeface="Arial"/>
                <a:cs typeface="Arial"/>
              </a:defRPr>
            </a:pPr>
            <a:r>
              <a:rPr sz="1350" b="0">
                <a:solidFill>
                  <a:srgbClr val="5B6472"/>
                </a:solidFill>
                <a:latin typeface="Arial"/>
                <a:ea typeface="Arial"/>
                <a:cs typeface="Arial"/>
              </a:rPr>
              <a:t>WAV, CSV, JSON y semilla</a:t>
            </a:r>
          </a:p>
        </p:txBody>
      </p:sp>
      <p:sp>
        <p:nvSpPr>
          <p:cNvPr id="53" name="">
            <a:extLst xmlns:a="http://schemas.openxmlformats.org/drawingml/2006/main">
              <a:ext uri="{FF2B5EF4-FFF2-40B4-BE49-F238E27FC236}">
                <a16:creationId xmlns:a16="http://schemas.microsoft.com/office/drawing/2014/main" id="{37D3CCEB-CD53-41C3-8E57-ED181163E6C2}"/>
              </a:ext>
            </a:extLst>
          </p:cNvPr>
          <p:cNvSpPr>
            <a:spLocks xmlns:a="http://schemas.openxmlformats.org/drawingml/2006/main" noGrp="1"/>
          </p:cNvSpPr>
          <p:nvPr/>
        </p:nvSpPr>
        <p:spPr>
          <a:xfrm xmlns:a="http://schemas.openxmlformats.org/drawingml/2006/main">
            <a:off x="8020050" y="4724400"/>
            <a:ext cx="457200" cy="457200"/>
          </a:xfrm>
          <a:prstGeom xmlns:a="http://schemas.openxmlformats.org/drawingml/2006/main" prst="ellipse">
            <a:avLst/>
          </a:prstGeom>
          <a:solidFill xmlns:a="http://schemas.openxmlformats.org/drawingml/2006/main">
            <a:srgbClr val="16845B"/>
          </a:solidFill>
          <a:ln xmlns:a="http://schemas.openxmlformats.org/drawingml/2006/main" w="0">
            <a:solidFill>
              <a:srgbClr val="16845B"/>
            </a:solidFill>
            <a:prstDash val="solid"/>
          </a:ln>
        </p:spPr>
      </p:sp>
      <p:sp>
        <p:nvSpPr>
          <p:cNvPr id="54" name="">
            <a:extLst xmlns:a="http://schemas.openxmlformats.org/drawingml/2006/main">
              <a:ext uri="{FF2B5EF4-FFF2-40B4-BE49-F238E27FC236}">
                <a16:creationId xmlns:a16="http://schemas.microsoft.com/office/drawing/2014/main" id="{2735C7A5-4E80-43B6-9695-26BCDD22C0D9}"/>
              </a:ext>
            </a:extLst>
          </p:cNvPr>
          <p:cNvSpPr>
            <a:spLocks xmlns:a="http://schemas.openxmlformats.org/drawingml/2006/main" noGrp="1"/>
          </p:cNvSpPr>
          <p:nvPr/>
        </p:nvSpPr>
        <p:spPr>
          <a:xfrm xmlns:a="http://schemas.openxmlformats.org/drawingml/2006/main">
            <a:off x="8020050" y="47244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a:t>
            </a:r>
          </a:p>
        </p:txBody>
      </p:sp>
      <p:sp>
        <p:nvSpPr>
          <p:cNvPr id="55" name="">
            <a:extLst xmlns:a="http://schemas.openxmlformats.org/drawingml/2006/main">
              <a:ext uri="{FF2B5EF4-FFF2-40B4-BE49-F238E27FC236}">
                <a16:creationId xmlns:a16="http://schemas.microsoft.com/office/drawing/2014/main" id="{0CA5460E-49B6-49AE-8779-F41FBF8689DA}"/>
              </a:ext>
            </a:extLst>
          </p:cNvPr>
          <p:cNvSpPr>
            <a:spLocks xmlns:a="http://schemas.openxmlformats.org/drawingml/2006/main" noGrp="1"/>
          </p:cNvSpPr>
          <p:nvPr/>
        </p:nvSpPr>
        <p:spPr>
          <a:xfrm xmlns:a="http://schemas.openxmlformats.org/drawingml/2006/main">
            <a:off x="8648700" y="4686300"/>
            <a:ext cx="2762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1">
                <a:solidFill>
                  <a:srgbClr val="111827"/>
                </a:solidFill>
                <a:latin typeface="Arial"/>
                <a:ea typeface="Arial"/>
                <a:cs typeface="Arial"/>
              </a:defRPr>
            </a:pPr>
            <a:r>
              <a:rPr sz="1725" b="1">
                <a:solidFill>
                  <a:srgbClr val="111827"/>
                </a:solidFill>
                <a:latin typeface="Arial"/>
                <a:ea typeface="Arial"/>
                <a:cs typeface="Arial"/>
              </a:rPr>
              <a:t>Aplicación</a:t>
            </a:r>
          </a:p>
        </p:txBody>
      </p:sp>
      <p:sp>
        <p:nvSpPr>
          <p:cNvPr id="56" name="">
            <a:extLst xmlns:a="http://schemas.openxmlformats.org/drawingml/2006/main">
              <a:ext uri="{FF2B5EF4-FFF2-40B4-BE49-F238E27FC236}">
                <a16:creationId xmlns:a16="http://schemas.microsoft.com/office/drawing/2014/main" id="{DCB18777-6823-48A8-BA02-85E67F3D1D99}"/>
              </a:ext>
            </a:extLst>
          </p:cNvPr>
          <p:cNvSpPr>
            <a:spLocks xmlns:a="http://schemas.openxmlformats.org/drawingml/2006/main" noGrp="1"/>
          </p:cNvSpPr>
          <p:nvPr/>
        </p:nvSpPr>
        <p:spPr>
          <a:xfrm xmlns:a="http://schemas.openxmlformats.org/drawingml/2006/main">
            <a:off x="8648700" y="504825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5B6472"/>
                </a:solidFill>
                <a:latin typeface="Arial"/>
                <a:ea typeface="Arial"/>
                <a:cs typeface="Arial"/>
              </a:defRPr>
            </a:pPr>
            <a:r>
              <a:rPr sz="1350" b="0">
                <a:solidFill>
                  <a:srgbClr val="5B6472"/>
                </a:solidFill>
                <a:latin typeface="Arial"/>
                <a:ea typeface="Arial"/>
                <a:cs typeface="Arial"/>
              </a:rPr>
              <a:t>JUCE/ASIO y telemetría</a:t>
            </a:r>
          </a:p>
        </p:txBody>
      </p:sp>
      <p:sp>
        <p:nvSpPr>
          <p:cNvPr id="57" name="">
            <a:extLst xmlns:a="http://schemas.openxmlformats.org/drawingml/2006/main">
              <a:ext uri="{FF2B5EF4-FFF2-40B4-BE49-F238E27FC236}">
                <a16:creationId xmlns:a16="http://schemas.microsoft.com/office/drawing/2014/main" id="{A66D96F2-BAC8-42D1-B887-E1519A94743A}"/>
              </a:ext>
            </a:extLst>
          </p:cNvPr>
          <p:cNvSpPr>
            <a:spLocks xmlns:a="http://schemas.openxmlformats.org/drawingml/2006/main" noGrp="1"/>
          </p:cNvSpPr>
          <p:nvPr/>
        </p:nvSpPr>
        <p:spPr>
          <a:xfrm xmlns:a="http://schemas.openxmlformats.org/drawingml/2006/main">
            <a:off x="8020050" y="5619750"/>
            <a:ext cx="3390900" cy="323850"/>
          </a:xfrm>
          <a:prstGeom xmlns:a="http://schemas.openxmlformats.org/drawingml/2006/main" prst="roundRect">
            <a:avLst>
              <a:gd name="adj" fmla="val 35294"/>
            </a:avLst>
          </a:prstGeom>
          <a:solidFill xmlns:a="http://schemas.openxmlformats.org/drawingml/2006/main">
            <a:srgbClr val="DCEEFF"/>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7D73520C-6D20-4819-A06B-5CE1A7068440}"/>
              </a:ext>
            </a:extLst>
          </p:cNvPr>
          <p:cNvSpPr>
            <a:spLocks xmlns:a="http://schemas.openxmlformats.org/drawingml/2006/main" noGrp="1"/>
          </p:cNvSpPr>
          <p:nvPr/>
        </p:nvSpPr>
        <p:spPr>
          <a:xfrm xmlns:a="http://schemas.openxmlformats.org/drawingml/2006/main">
            <a:off x="8096250" y="56197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1769E0"/>
                </a:solidFill>
                <a:latin typeface="Arial"/>
                <a:ea typeface="Arial"/>
                <a:cs typeface="Arial"/>
              </a:defRPr>
            </a:pPr>
            <a:r>
              <a:rPr sz="1200" b="1">
                <a:solidFill>
                  <a:srgbClr val="1769E0"/>
                </a:solidFill>
                <a:latin typeface="Arial"/>
                <a:ea typeface="Arial"/>
                <a:cs typeface="Arial"/>
              </a:rPr>
              <a:t>IMPLEMENTADO Y VERIFICADO</a:t>
            </a:r>
          </a:p>
        </p:txBody>
      </p:sp>
    </p:spTree>
    <p:extLst>
      <p:ext uri="{BB962C8B-B14F-4D97-AF65-F5344CB8AC3E}">
        <p14:creationId xmlns:p14="http://schemas.microsoft.com/office/powerpoint/2010/main" val="10045900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1889B3A-2BFE-4247-9BB2-34BB890A8A9E}"/>
              </a:ext>
            </a:extLst>
          </p:cNvPr>
          <p:cNvSpPr>
            <a:spLocks xmlns:a="http://schemas.openxmlformats.org/drawingml/2006/main" noGrp="1"/>
          </p:cNvSpPr>
          <p:nvPr/>
        </p:nvSpPr>
        <p:spPr>
          <a:xfrm xmlns:a="http://schemas.openxmlformats.org/drawingml/2006/main">
            <a:off x="552450" y="2286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827"/>
                </a:solidFill>
                <a:latin typeface="Arial"/>
                <a:ea typeface="Arial"/>
                <a:cs typeface="Arial"/>
              </a:defRPr>
            </a:pPr>
            <a:r>
              <a:rPr sz="2850" b="1">
                <a:solidFill>
                  <a:srgbClr val="111827"/>
                </a:solidFill>
                <a:latin typeface="Arial"/>
                <a:ea typeface="Arial"/>
                <a:cs typeface="Arial"/>
              </a:rPr>
              <a:t>La prueba de concepto recorre el ciclo completo</a:t>
            </a:r>
          </a:p>
        </p:txBody>
      </p:sp>
      <p:sp>
        <p:nvSpPr>
          <p:cNvPr id="2" name="">
            <a:extLst xmlns:a="http://schemas.openxmlformats.org/drawingml/2006/main">
              <a:ext uri="{FF2B5EF4-FFF2-40B4-BE49-F238E27FC236}">
                <a16:creationId xmlns:a16="http://schemas.microsoft.com/office/drawing/2014/main" id="{953DA7A5-28CA-4E2A-B337-483C5EF6F784}"/>
              </a:ext>
            </a:extLst>
          </p:cNvPr>
          <p:cNvSpPr>
            <a:spLocks xmlns:a="http://schemas.openxmlformats.org/drawingml/2006/main" noGrp="1"/>
          </p:cNvSpPr>
          <p:nvPr/>
        </p:nvSpPr>
        <p:spPr>
          <a:xfrm xmlns:a="http://schemas.openxmlformats.org/drawingml/2006/main">
            <a:off x="457200" y="1323975"/>
            <a:ext cx="11277600" cy="19050"/>
          </a:xfrm>
          <a:prstGeom xmlns:a="http://schemas.openxmlformats.org/drawingml/2006/main" prst="rect">
            <a:avLst/>
          </a:prstGeom>
          <a:solidFill xmlns:a="http://schemas.openxmlformats.org/drawingml/2006/main">
            <a:srgbClr val="E8EDF3"/>
          </a:solidFill>
          <a:ln xmlns:a="http://schemas.openxmlformats.org/drawingml/2006/main" w="0">
            <a:solidFill>
              <a:srgbClr val="E8EDF3"/>
            </a:solidFill>
            <a:prstDash val="solid"/>
          </a:ln>
        </p:spPr>
      </p:sp>
      <p:sp>
        <p:nvSpPr>
          <p:cNvPr id="3" name="">
            <a:extLst xmlns:a="http://schemas.openxmlformats.org/drawingml/2006/main">
              <a:ext uri="{FF2B5EF4-FFF2-40B4-BE49-F238E27FC236}">
                <a16:creationId xmlns:a16="http://schemas.microsoft.com/office/drawing/2014/main" id="{8EBA9085-259A-46E3-A410-81F500B1EA21}"/>
              </a:ext>
            </a:extLst>
          </p:cNvPr>
          <p:cNvSpPr>
            <a:spLocks xmlns:a="http://schemas.openxmlformats.org/drawingml/2006/main" noGrp="1"/>
          </p:cNvSpPr>
          <p:nvPr/>
        </p:nvSpPr>
        <p:spPr>
          <a:xfrm xmlns:a="http://schemas.openxmlformats.org/drawingml/2006/main">
            <a:off x="1118235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0">
                <a:solidFill>
                  <a:srgbClr val="5B6472"/>
                </a:solidFill>
                <a:latin typeface="Arial"/>
                <a:ea typeface="Arial"/>
                <a:cs typeface="Arial"/>
              </a:defRPr>
            </a:pPr>
            <a:r>
              <a:rPr sz="1200" b="0">
                <a:solidFill>
                  <a:srgbClr val="5B6472"/>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E33E5D41-52DE-43A0-9839-1B64AB80C37B}"/>
              </a:ext>
            </a:extLst>
          </p:cNvPr>
          <p:cNvSpPr>
            <a:spLocks xmlns:a="http://schemas.openxmlformats.org/drawingml/2006/main" noGrp="1"/>
          </p:cNvSpPr>
          <p:nvPr/>
        </p:nvSpPr>
        <p:spPr>
          <a:xfrm xmlns:a="http://schemas.openxmlformats.org/drawingml/2006/main">
            <a:off x="533400" y="2409825"/>
            <a:ext cx="1752600" cy="1676400"/>
          </a:xfrm>
          <a:prstGeom xmlns:a="http://schemas.openxmlformats.org/drawingml/2006/main" prst="roundRect">
            <a:avLst>
              <a:gd name="adj" fmla="val 6818"/>
            </a:avLst>
          </a:prstGeom>
          <a:solidFill xmlns:a="http://schemas.openxmlformats.org/drawingml/2006/main">
            <a:srgbClr val="F3F5F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79ACB35-5097-4579-9723-19E9D87E2D83}"/>
              </a:ext>
            </a:extLst>
          </p:cNvPr>
          <p:cNvSpPr>
            <a:spLocks xmlns:a="http://schemas.openxmlformats.org/drawingml/2006/main" noGrp="1"/>
          </p:cNvSpPr>
          <p:nvPr/>
        </p:nvSpPr>
        <p:spPr>
          <a:xfrm xmlns:a="http://schemas.openxmlformats.org/drawingml/2006/main">
            <a:off x="2819400" y="2409825"/>
            <a:ext cx="1752600" cy="1676400"/>
          </a:xfrm>
          <a:prstGeom xmlns:a="http://schemas.openxmlformats.org/drawingml/2006/main" prst="roundRect">
            <a:avLst>
              <a:gd name="adj" fmla="val 6818"/>
            </a:avLst>
          </a:prstGeom>
          <a:solidFill xmlns:a="http://schemas.openxmlformats.org/drawingml/2006/main">
            <a:srgbClr val="F3F5F7"/>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91F9098-6466-4796-B584-6E7A2EB65932}"/>
              </a:ext>
            </a:extLst>
          </p:cNvPr>
          <p:cNvSpPr>
            <a:spLocks xmlns:a="http://schemas.openxmlformats.org/drawingml/2006/main" noGrp="1"/>
          </p:cNvSpPr>
          <p:nvPr/>
        </p:nvSpPr>
        <p:spPr>
          <a:xfrm xmlns:a="http://schemas.openxmlformats.org/drawingml/2006/main">
            <a:off x="5105400" y="2409825"/>
            <a:ext cx="1752600" cy="1676400"/>
          </a:xfrm>
          <a:prstGeom xmlns:a="http://schemas.openxmlformats.org/drawingml/2006/main" prst="roundRect">
            <a:avLst>
              <a:gd name="adj" fmla="val 6818"/>
            </a:avLst>
          </a:prstGeom>
          <a:solidFill xmlns:a="http://schemas.openxmlformats.org/drawingml/2006/main">
            <a:srgbClr val="F3F5F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7F39B57-2E7B-4798-9CA3-E51E4B73EB34}"/>
              </a:ext>
            </a:extLst>
          </p:cNvPr>
          <p:cNvSpPr>
            <a:spLocks xmlns:a="http://schemas.openxmlformats.org/drawingml/2006/main" noGrp="1"/>
          </p:cNvSpPr>
          <p:nvPr/>
        </p:nvSpPr>
        <p:spPr>
          <a:xfrm xmlns:a="http://schemas.openxmlformats.org/drawingml/2006/main">
            <a:off x="7391400" y="2409825"/>
            <a:ext cx="1752600" cy="1676400"/>
          </a:xfrm>
          <a:prstGeom xmlns:a="http://schemas.openxmlformats.org/drawingml/2006/main" prst="roundRect">
            <a:avLst>
              <a:gd name="adj" fmla="val 6818"/>
            </a:avLst>
          </a:prstGeom>
          <a:solidFill xmlns:a="http://schemas.openxmlformats.org/drawingml/2006/main">
            <a:srgbClr val="DCEE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5815B7C-D2EE-46E7-AD76-EAEAF4603CD3}"/>
              </a:ext>
            </a:extLst>
          </p:cNvPr>
          <p:cNvSpPr>
            <a:spLocks xmlns:a="http://schemas.openxmlformats.org/drawingml/2006/main" noGrp="1"/>
          </p:cNvSpPr>
          <p:nvPr/>
        </p:nvSpPr>
        <p:spPr>
          <a:xfrm xmlns:a="http://schemas.openxmlformats.org/drawingml/2006/main">
            <a:off x="9677400" y="2409825"/>
            <a:ext cx="1752600" cy="1676400"/>
          </a:xfrm>
          <a:prstGeom xmlns:a="http://schemas.openxmlformats.org/drawingml/2006/main" prst="roundRect">
            <a:avLst>
              <a:gd name="adj" fmla="val 6818"/>
            </a:avLst>
          </a:prstGeom>
          <a:solidFill xmlns:a="http://schemas.openxmlformats.org/drawingml/2006/main">
            <a:srgbClr val="F3F5F7"/>
          </a:solidFill>
          <a:ln xmlns:a="http://schemas.openxmlformats.org/drawingml/2006/main" w="0">
            <a:noFill/>
            <a:prstDash val="solid"/>
          </a:ln>
        </p:spPr>
      </p:sp>
      <p:cxnSp>
        <p:nvCxnSpPr>
          <p:cNvPr id="44" name=""/>
          <p:cNvCxnSpPr>
            <a:stCxn xmlns:a="http://schemas.openxmlformats.org/drawingml/2006/main" id="4" idx="3"/>
            <a:endCxn xmlns:a="http://schemas.openxmlformats.org/drawingml/2006/main" id="5" idx="1"/>
          </p:cNvCxnSpPr>
          <p:nvPr/>
        </p:nvCxnSpPr>
        <p:spPr>
          <a:xfrm xmlns:a="http://schemas.openxmlformats.org/drawingml/2006/main">
            <a:off x="2286000" y="3248025"/>
            <a:ext cx="533400" cy="0"/>
          </a:xfrm>
          <a:prstGeom xmlns:a="http://schemas.openxmlformats.org/drawingml/2006/main" prst="straightConnector1">
            <a:avLst/>
          </a:prstGeom>
          <a:ln xmlns:a="http://schemas.openxmlformats.org/drawingml/2006/main" w="38100">
            <a:solidFill>
              <a:srgbClr val="1769E0"/>
            </a:solidFill>
            <a:prstDash val="solid"/>
            <a:tailEnd type="arrow" w="med" len="med"/>
          </a:ln>
        </p:spPr>
      </p:cxnSp>
      <p:cxnSp>
        <p:nvCxnSpPr>
          <p:cNvPr id="45" name=""/>
          <p:cNvCxnSpPr>
            <a:stCxn xmlns:a="http://schemas.openxmlformats.org/drawingml/2006/main" id="5" idx="3"/>
            <a:endCxn xmlns:a="http://schemas.openxmlformats.org/drawingml/2006/main" id="6" idx="1"/>
          </p:cNvCxnSpPr>
          <p:nvPr/>
        </p:nvCxnSpPr>
        <p:spPr>
          <a:xfrm xmlns:a="http://schemas.openxmlformats.org/drawingml/2006/main">
            <a:off x="4572000" y="3248025"/>
            <a:ext cx="533400" cy="0"/>
          </a:xfrm>
          <a:prstGeom xmlns:a="http://schemas.openxmlformats.org/drawingml/2006/main" prst="straightConnector1">
            <a:avLst/>
          </a:prstGeom>
          <a:ln xmlns:a="http://schemas.openxmlformats.org/drawingml/2006/main" w="38100">
            <a:solidFill>
              <a:srgbClr val="1769E0"/>
            </a:solidFill>
            <a:prstDash val="solid"/>
            <a:tailEnd type="arrow" w="med" len="med"/>
          </a:ln>
        </p:spPr>
      </p:cxnSp>
      <p:cxnSp>
        <p:nvCxnSpPr>
          <p:cNvPr id="46" name=""/>
          <p:cNvCxnSpPr>
            <a:stCxn xmlns:a="http://schemas.openxmlformats.org/drawingml/2006/main" id="6" idx="3"/>
            <a:endCxn xmlns:a="http://schemas.openxmlformats.org/drawingml/2006/main" id="7" idx="1"/>
          </p:cNvCxnSpPr>
          <p:nvPr/>
        </p:nvCxnSpPr>
        <p:spPr>
          <a:xfrm xmlns:a="http://schemas.openxmlformats.org/drawingml/2006/main">
            <a:off x="6858000" y="3248025"/>
            <a:ext cx="533400" cy="0"/>
          </a:xfrm>
          <a:prstGeom xmlns:a="http://schemas.openxmlformats.org/drawingml/2006/main" prst="straightConnector1">
            <a:avLst/>
          </a:prstGeom>
          <a:ln xmlns:a="http://schemas.openxmlformats.org/drawingml/2006/main" w="38100">
            <a:solidFill>
              <a:srgbClr val="1769E0"/>
            </a:solidFill>
            <a:prstDash val="solid"/>
            <a:tailEnd type="arrow" w="med" len="med"/>
          </a:ln>
        </p:spPr>
      </p:cxnSp>
      <p:cxnSp>
        <p:nvCxnSpPr>
          <p:cNvPr id="47" name=""/>
          <p:cNvCxnSpPr>
            <a:stCxn xmlns:a="http://schemas.openxmlformats.org/drawingml/2006/main" id="7" idx="3"/>
            <a:endCxn xmlns:a="http://schemas.openxmlformats.org/drawingml/2006/main" id="8" idx="1"/>
          </p:cNvCxnSpPr>
          <p:nvPr/>
        </p:nvCxnSpPr>
        <p:spPr>
          <a:xfrm xmlns:a="http://schemas.openxmlformats.org/drawingml/2006/main">
            <a:off x="9144000" y="3248025"/>
            <a:ext cx="533400" cy="0"/>
          </a:xfrm>
          <a:prstGeom xmlns:a="http://schemas.openxmlformats.org/drawingml/2006/main" prst="straightConnector1">
            <a:avLst/>
          </a:prstGeom>
          <a:ln xmlns:a="http://schemas.openxmlformats.org/drawingml/2006/main" w="38100">
            <a:solidFill>
              <a:srgbClr val="1769E0"/>
            </a:solidFill>
            <a:prstDash val="solid"/>
            <a:tailEnd type="arrow" w="med" len="med"/>
          </a:ln>
        </p:spPr>
      </p:cxnSp>
      <p:sp>
        <p:nvSpPr>
          <p:cNvPr id="13" name="">
            <a:extLst xmlns:a="http://schemas.openxmlformats.org/drawingml/2006/main">
              <a:ext uri="{FF2B5EF4-FFF2-40B4-BE49-F238E27FC236}">
                <a16:creationId xmlns:a16="http://schemas.microsoft.com/office/drawing/2014/main" id="{D8164EEB-C672-4724-8824-6F4F37E71326}"/>
              </a:ext>
            </a:extLst>
          </p:cNvPr>
          <p:cNvSpPr>
            <a:spLocks xmlns:a="http://schemas.openxmlformats.org/drawingml/2006/main" noGrp="1"/>
          </p:cNvSpPr>
          <p:nvPr/>
        </p:nvSpPr>
        <p:spPr>
          <a:xfrm xmlns:a="http://schemas.openxmlformats.org/drawingml/2006/main">
            <a:off x="1123950" y="1847850"/>
            <a:ext cx="571500" cy="571500"/>
          </a:xfrm>
          <a:prstGeom xmlns:a="http://schemas.openxmlformats.org/drawingml/2006/main" prst="ellipse">
            <a:avLst/>
          </a:prstGeom>
          <a:solidFill xmlns:a="http://schemas.openxmlformats.org/drawingml/2006/main">
            <a:srgbClr val="111827"/>
          </a:solidFill>
          <a:ln xmlns:a="http://schemas.openxmlformats.org/drawingml/2006/main" w="0">
            <a:solidFill>
              <a:srgbClr val="111827"/>
            </a:solidFill>
            <a:prstDash val="solid"/>
          </a:ln>
        </p:spPr>
      </p:sp>
      <p:sp>
        <p:nvSpPr>
          <p:cNvPr id="14" name="">
            <a:extLst xmlns:a="http://schemas.openxmlformats.org/drawingml/2006/main">
              <a:ext uri="{FF2B5EF4-FFF2-40B4-BE49-F238E27FC236}">
                <a16:creationId xmlns:a16="http://schemas.microsoft.com/office/drawing/2014/main" id="{56F4D737-8EF6-4947-A6C5-EE2A46782430}"/>
              </a:ext>
            </a:extLst>
          </p:cNvPr>
          <p:cNvSpPr>
            <a:spLocks xmlns:a="http://schemas.openxmlformats.org/drawingml/2006/main" noGrp="1"/>
          </p:cNvSpPr>
          <p:nvPr/>
        </p:nvSpPr>
        <p:spPr>
          <a:xfrm xmlns:a="http://schemas.openxmlformats.org/drawingml/2006/main">
            <a:off x="1123950" y="18478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F88D9B3D-C216-4367-95AF-4DC7FBC30F85}"/>
              </a:ext>
            </a:extLst>
          </p:cNvPr>
          <p:cNvSpPr>
            <a:spLocks xmlns:a="http://schemas.openxmlformats.org/drawingml/2006/main" noGrp="1"/>
          </p:cNvSpPr>
          <p:nvPr/>
        </p:nvSpPr>
        <p:spPr>
          <a:xfrm xmlns:a="http://schemas.openxmlformats.org/drawingml/2006/main">
            <a:off x="647700" y="262890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769E0"/>
                </a:solidFill>
                <a:latin typeface="Arial"/>
                <a:ea typeface="Arial"/>
                <a:cs typeface="Arial"/>
              </a:defRPr>
            </a:pPr>
            <a:r>
              <a:rPr sz="1425" b="1">
                <a:solidFill>
                  <a:srgbClr val="1769E0"/>
                </a:solidFill>
                <a:latin typeface="Arial"/>
                <a:ea typeface="Arial"/>
                <a:cs typeface="Arial"/>
              </a:rPr>
              <a:t>CONFIGURAR</a:t>
            </a:r>
          </a:p>
        </p:txBody>
      </p:sp>
      <p:sp>
        <p:nvSpPr>
          <p:cNvPr id="16" name="">
            <a:extLst xmlns:a="http://schemas.openxmlformats.org/drawingml/2006/main">
              <a:ext uri="{FF2B5EF4-FFF2-40B4-BE49-F238E27FC236}">
                <a16:creationId xmlns:a16="http://schemas.microsoft.com/office/drawing/2014/main" id="{D7A0CBDB-989D-4465-B269-8A2DB41D546E}"/>
              </a:ext>
            </a:extLst>
          </p:cNvPr>
          <p:cNvSpPr>
            <a:spLocks xmlns:a="http://schemas.openxmlformats.org/drawingml/2006/main" noGrp="1"/>
          </p:cNvSpPr>
          <p:nvPr/>
        </p:nvSpPr>
        <p:spPr>
          <a:xfrm xmlns:a="http://schemas.openxmlformats.org/drawingml/2006/main">
            <a:off x="647700" y="31051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827"/>
                </a:solidFill>
                <a:latin typeface="Arial"/>
                <a:ea typeface="Arial"/>
                <a:cs typeface="Arial"/>
              </a:defRPr>
            </a:pPr>
            <a:r>
              <a:rPr sz="1575" b="1">
                <a:solidFill>
                  <a:srgbClr val="111827"/>
                </a:solidFill>
                <a:latin typeface="Arial"/>
                <a:ea typeface="Arial"/>
                <a:cs typeface="Arial"/>
              </a:rPr>
              <a:t>YAML + semilla</a:t>
            </a:r>
          </a:p>
        </p:txBody>
      </p:sp>
      <p:sp>
        <p:nvSpPr>
          <p:cNvPr id="17" name="">
            <a:extLst xmlns:a="http://schemas.openxmlformats.org/drawingml/2006/main">
              <a:ext uri="{FF2B5EF4-FFF2-40B4-BE49-F238E27FC236}">
                <a16:creationId xmlns:a16="http://schemas.microsoft.com/office/drawing/2014/main" id="{66B982C6-2700-427A-80B0-9FEA6EE5DD38}"/>
              </a:ext>
            </a:extLst>
          </p:cNvPr>
          <p:cNvSpPr>
            <a:spLocks xmlns:a="http://schemas.openxmlformats.org/drawingml/2006/main" noGrp="1"/>
          </p:cNvSpPr>
          <p:nvPr/>
        </p:nvSpPr>
        <p:spPr>
          <a:xfrm xmlns:a="http://schemas.openxmlformats.org/drawingml/2006/main">
            <a:off x="3409950" y="1847850"/>
            <a:ext cx="571500" cy="571500"/>
          </a:xfrm>
          <a:prstGeom xmlns:a="http://schemas.openxmlformats.org/drawingml/2006/main" prst="ellipse">
            <a:avLst/>
          </a:prstGeom>
          <a:solidFill xmlns:a="http://schemas.openxmlformats.org/drawingml/2006/main">
            <a:srgbClr val="111827"/>
          </a:solidFill>
          <a:ln xmlns:a="http://schemas.openxmlformats.org/drawingml/2006/main" w="0">
            <a:solidFill>
              <a:srgbClr val="111827"/>
            </a:solidFill>
            <a:prstDash val="solid"/>
          </a:ln>
        </p:spPr>
      </p:sp>
      <p:sp>
        <p:nvSpPr>
          <p:cNvPr id="18" name="">
            <a:extLst xmlns:a="http://schemas.openxmlformats.org/drawingml/2006/main">
              <a:ext uri="{FF2B5EF4-FFF2-40B4-BE49-F238E27FC236}">
                <a16:creationId xmlns:a16="http://schemas.microsoft.com/office/drawing/2014/main" id="{B7A7B241-55BB-49DF-9092-783C8B0BEC2F}"/>
              </a:ext>
            </a:extLst>
          </p:cNvPr>
          <p:cNvSpPr>
            <a:spLocks xmlns:a="http://schemas.openxmlformats.org/drawingml/2006/main" noGrp="1"/>
          </p:cNvSpPr>
          <p:nvPr/>
        </p:nvSpPr>
        <p:spPr>
          <a:xfrm xmlns:a="http://schemas.openxmlformats.org/drawingml/2006/main">
            <a:off x="3409950" y="18478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2</a:t>
            </a:r>
          </a:p>
        </p:txBody>
      </p:sp>
      <p:sp>
        <p:nvSpPr>
          <p:cNvPr id="19" name="">
            <a:extLst xmlns:a="http://schemas.openxmlformats.org/drawingml/2006/main">
              <a:ext uri="{FF2B5EF4-FFF2-40B4-BE49-F238E27FC236}">
                <a16:creationId xmlns:a16="http://schemas.microsoft.com/office/drawing/2014/main" id="{F3E6B0B6-D8AA-4CB2-B733-469E3E51D79E}"/>
              </a:ext>
            </a:extLst>
          </p:cNvPr>
          <p:cNvSpPr>
            <a:spLocks xmlns:a="http://schemas.openxmlformats.org/drawingml/2006/main" noGrp="1"/>
          </p:cNvSpPr>
          <p:nvPr/>
        </p:nvSpPr>
        <p:spPr>
          <a:xfrm xmlns:a="http://schemas.openxmlformats.org/drawingml/2006/main">
            <a:off x="2933700" y="262890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769E0"/>
                </a:solidFill>
                <a:latin typeface="Arial"/>
                <a:ea typeface="Arial"/>
                <a:cs typeface="Arial"/>
              </a:defRPr>
            </a:pPr>
            <a:r>
              <a:rPr sz="1425" b="1">
                <a:solidFill>
                  <a:srgbClr val="1769E0"/>
                </a:solidFill>
                <a:latin typeface="Arial"/>
                <a:ea typeface="Arial"/>
                <a:cs typeface="Arial"/>
              </a:rPr>
              <a:t>SIMULAR</a:t>
            </a:r>
          </a:p>
        </p:txBody>
      </p:sp>
      <p:sp>
        <p:nvSpPr>
          <p:cNvPr id="20" name="">
            <a:extLst xmlns:a="http://schemas.openxmlformats.org/drawingml/2006/main">
              <a:ext uri="{FF2B5EF4-FFF2-40B4-BE49-F238E27FC236}">
                <a16:creationId xmlns:a16="http://schemas.microsoft.com/office/drawing/2014/main" id="{CAF88BA2-6B14-46DE-9B3E-D0B35D6F26C4}"/>
              </a:ext>
            </a:extLst>
          </p:cNvPr>
          <p:cNvSpPr>
            <a:spLocks xmlns:a="http://schemas.openxmlformats.org/drawingml/2006/main" noGrp="1"/>
          </p:cNvSpPr>
          <p:nvPr/>
        </p:nvSpPr>
        <p:spPr>
          <a:xfrm xmlns:a="http://schemas.openxmlformats.org/drawingml/2006/main">
            <a:off x="2933700" y="31051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827"/>
                </a:solidFill>
                <a:latin typeface="Arial"/>
                <a:ea typeface="Arial"/>
                <a:cs typeface="Arial"/>
              </a:defRPr>
            </a:pPr>
            <a:r>
              <a:rPr sz="1575" b="1">
                <a:solidFill>
                  <a:srgbClr val="111827"/>
                </a:solidFill>
                <a:latin typeface="Arial"/>
                <a:ea typeface="Arial"/>
                <a:cs typeface="Arial"/>
              </a:rPr>
              <a:t>Lazo cerrado</a:t>
            </a:r>
          </a:p>
        </p:txBody>
      </p:sp>
      <p:sp>
        <p:nvSpPr>
          <p:cNvPr id="21" name="">
            <a:extLst xmlns:a="http://schemas.openxmlformats.org/drawingml/2006/main">
              <a:ext uri="{FF2B5EF4-FFF2-40B4-BE49-F238E27FC236}">
                <a16:creationId xmlns:a16="http://schemas.microsoft.com/office/drawing/2014/main" id="{D8F6E26D-5AFE-49AD-AA82-98DA50C80226}"/>
              </a:ext>
            </a:extLst>
          </p:cNvPr>
          <p:cNvSpPr>
            <a:spLocks xmlns:a="http://schemas.openxmlformats.org/drawingml/2006/main" noGrp="1"/>
          </p:cNvSpPr>
          <p:nvPr/>
        </p:nvSpPr>
        <p:spPr>
          <a:xfrm xmlns:a="http://schemas.openxmlformats.org/drawingml/2006/main">
            <a:off x="5695950" y="1847850"/>
            <a:ext cx="571500" cy="571500"/>
          </a:xfrm>
          <a:prstGeom xmlns:a="http://schemas.openxmlformats.org/drawingml/2006/main" prst="ellipse">
            <a:avLst/>
          </a:prstGeom>
          <a:solidFill xmlns:a="http://schemas.openxmlformats.org/drawingml/2006/main">
            <a:srgbClr val="111827"/>
          </a:solidFill>
          <a:ln xmlns:a="http://schemas.openxmlformats.org/drawingml/2006/main" w="0">
            <a:solidFill>
              <a:srgbClr val="111827"/>
            </a:solidFill>
            <a:prstDash val="solid"/>
          </a:ln>
        </p:spPr>
      </p:sp>
      <p:sp>
        <p:nvSpPr>
          <p:cNvPr id="22" name="">
            <a:extLst xmlns:a="http://schemas.openxmlformats.org/drawingml/2006/main">
              <a:ext uri="{FF2B5EF4-FFF2-40B4-BE49-F238E27FC236}">
                <a16:creationId xmlns:a16="http://schemas.microsoft.com/office/drawing/2014/main" id="{BB0376CB-680E-436D-BA5E-AD82DEC4E3C5}"/>
              </a:ext>
            </a:extLst>
          </p:cNvPr>
          <p:cNvSpPr>
            <a:spLocks xmlns:a="http://schemas.openxmlformats.org/drawingml/2006/main" noGrp="1"/>
          </p:cNvSpPr>
          <p:nvPr/>
        </p:nvSpPr>
        <p:spPr>
          <a:xfrm xmlns:a="http://schemas.openxmlformats.org/drawingml/2006/main">
            <a:off x="5695950" y="18478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3</a:t>
            </a:r>
          </a:p>
        </p:txBody>
      </p:sp>
      <p:sp>
        <p:nvSpPr>
          <p:cNvPr id="23" name="">
            <a:extLst xmlns:a="http://schemas.openxmlformats.org/drawingml/2006/main">
              <a:ext uri="{FF2B5EF4-FFF2-40B4-BE49-F238E27FC236}">
                <a16:creationId xmlns:a16="http://schemas.microsoft.com/office/drawing/2014/main" id="{DA9D16D2-E45C-42BA-A8E1-D3A63FEA0CCC}"/>
              </a:ext>
            </a:extLst>
          </p:cNvPr>
          <p:cNvSpPr>
            <a:spLocks xmlns:a="http://schemas.openxmlformats.org/drawingml/2006/main" noGrp="1"/>
          </p:cNvSpPr>
          <p:nvPr/>
        </p:nvSpPr>
        <p:spPr>
          <a:xfrm xmlns:a="http://schemas.openxmlformats.org/drawingml/2006/main">
            <a:off x="5219700" y="262890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769E0"/>
                </a:solidFill>
                <a:latin typeface="Arial"/>
                <a:ea typeface="Arial"/>
                <a:cs typeface="Arial"/>
              </a:defRPr>
            </a:pPr>
            <a:r>
              <a:rPr sz="1425" b="1">
                <a:solidFill>
                  <a:srgbClr val="1769E0"/>
                </a:solidFill>
                <a:latin typeface="Arial"/>
                <a:ea typeface="Arial"/>
                <a:cs typeface="Arial"/>
              </a:rPr>
              <a:t>PROCESAR</a:t>
            </a:r>
          </a:p>
        </p:txBody>
      </p:sp>
      <p:sp>
        <p:nvSpPr>
          <p:cNvPr id="24" name="">
            <a:extLst xmlns:a="http://schemas.openxmlformats.org/drawingml/2006/main">
              <a:ext uri="{FF2B5EF4-FFF2-40B4-BE49-F238E27FC236}">
                <a16:creationId xmlns:a16="http://schemas.microsoft.com/office/drawing/2014/main" id="{F39A68FD-DB4A-4683-ADDC-F0C7A86FDC6B}"/>
              </a:ext>
            </a:extLst>
          </p:cNvPr>
          <p:cNvSpPr>
            <a:spLocks xmlns:a="http://schemas.openxmlformats.org/drawingml/2006/main" noGrp="1"/>
          </p:cNvSpPr>
          <p:nvPr/>
        </p:nvSpPr>
        <p:spPr>
          <a:xfrm xmlns:a="http://schemas.openxmlformats.org/drawingml/2006/main">
            <a:off x="5219700" y="31051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827"/>
                </a:solidFill>
                <a:latin typeface="Arial"/>
                <a:ea typeface="Arial"/>
                <a:cs typeface="Arial"/>
              </a:defRPr>
            </a:pPr>
            <a:r>
              <a:rPr sz="1575" b="1">
                <a:solidFill>
                  <a:srgbClr val="111827"/>
                </a:solidFill>
                <a:latin typeface="Arial"/>
                <a:ea typeface="Arial"/>
                <a:cs typeface="Arial"/>
              </a:rPr>
              <a:t>Bypass / Patel</a:t>
            </a:r>
          </a:p>
        </p:txBody>
      </p:sp>
      <p:sp>
        <p:nvSpPr>
          <p:cNvPr id="25" name="">
            <a:extLst xmlns:a="http://schemas.openxmlformats.org/drawingml/2006/main">
              <a:ext uri="{FF2B5EF4-FFF2-40B4-BE49-F238E27FC236}">
                <a16:creationId xmlns:a16="http://schemas.microsoft.com/office/drawing/2014/main" id="{56F08A18-D063-4826-8390-7D1CB6428AE2}"/>
              </a:ext>
            </a:extLst>
          </p:cNvPr>
          <p:cNvSpPr>
            <a:spLocks xmlns:a="http://schemas.openxmlformats.org/drawingml/2006/main" noGrp="1"/>
          </p:cNvSpPr>
          <p:nvPr/>
        </p:nvSpPr>
        <p:spPr>
          <a:xfrm xmlns:a="http://schemas.openxmlformats.org/drawingml/2006/main">
            <a:off x="7981950" y="1847850"/>
            <a:ext cx="571500" cy="571500"/>
          </a:xfrm>
          <a:prstGeom xmlns:a="http://schemas.openxmlformats.org/drawingml/2006/main" prst="ellipse">
            <a:avLst/>
          </a:prstGeom>
          <a:solidFill xmlns:a="http://schemas.openxmlformats.org/drawingml/2006/main">
            <a:srgbClr val="1769E0"/>
          </a:solidFill>
          <a:ln xmlns:a="http://schemas.openxmlformats.org/drawingml/2006/main" w="0">
            <a:solidFill>
              <a:srgbClr val="1769E0"/>
            </a:solidFill>
            <a:prstDash val="solid"/>
          </a:ln>
        </p:spPr>
      </p:sp>
      <p:sp>
        <p:nvSpPr>
          <p:cNvPr id="26" name="">
            <a:extLst xmlns:a="http://schemas.openxmlformats.org/drawingml/2006/main">
              <a:ext uri="{FF2B5EF4-FFF2-40B4-BE49-F238E27FC236}">
                <a16:creationId xmlns:a16="http://schemas.microsoft.com/office/drawing/2014/main" id="{4A02060D-FBC6-4504-AD7A-8B881038E2C8}"/>
              </a:ext>
            </a:extLst>
          </p:cNvPr>
          <p:cNvSpPr>
            <a:spLocks xmlns:a="http://schemas.openxmlformats.org/drawingml/2006/main" noGrp="1"/>
          </p:cNvSpPr>
          <p:nvPr/>
        </p:nvSpPr>
        <p:spPr>
          <a:xfrm xmlns:a="http://schemas.openxmlformats.org/drawingml/2006/main">
            <a:off x="7981950" y="18478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4</a:t>
            </a:r>
          </a:p>
        </p:txBody>
      </p:sp>
      <p:sp>
        <p:nvSpPr>
          <p:cNvPr id="27" name="">
            <a:extLst xmlns:a="http://schemas.openxmlformats.org/drawingml/2006/main">
              <a:ext uri="{FF2B5EF4-FFF2-40B4-BE49-F238E27FC236}">
                <a16:creationId xmlns:a16="http://schemas.microsoft.com/office/drawing/2014/main" id="{6729E198-3482-43B1-897E-0D27539B02F6}"/>
              </a:ext>
            </a:extLst>
          </p:cNvPr>
          <p:cNvSpPr>
            <a:spLocks xmlns:a="http://schemas.openxmlformats.org/drawingml/2006/main" noGrp="1"/>
          </p:cNvSpPr>
          <p:nvPr/>
        </p:nvSpPr>
        <p:spPr>
          <a:xfrm xmlns:a="http://schemas.openxmlformats.org/drawingml/2006/main">
            <a:off x="7505700" y="262890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769E0"/>
                </a:solidFill>
                <a:latin typeface="Arial"/>
                <a:ea typeface="Arial"/>
                <a:cs typeface="Arial"/>
              </a:defRPr>
            </a:pPr>
            <a:r>
              <a:rPr sz="1425" b="1">
                <a:solidFill>
                  <a:srgbClr val="1769E0"/>
                </a:solidFill>
                <a:latin typeface="Arial"/>
                <a:ea typeface="Arial"/>
                <a:cs typeface="Arial"/>
              </a:rPr>
              <a:t>ESCUCHAR</a:t>
            </a:r>
          </a:p>
        </p:txBody>
      </p:sp>
      <p:sp>
        <p:nvSpPr>
          <p:cNvPr id="28" name="">
            <a:extLst xmlns:a="http://schemas.openxmlformats.org/drawingml/2006/main">
              <a:ext uri="{FF2B5EF4-FFF2-40B4-BE49-F238E27FC236}">
                <a16:creationId xmlns:a16="http://schemas.microsoft.com/office/drawing/2014/main" id="{F8B878EA-5455-47EE-B43A-65D9061C4D53}"/>
              </a:ext>
            </a:extLst>
          </p:cNvPr>
          <p:cNvSpPr>
            <a:spLocks xmlns:a="http://schemas.openxmlformats.org/drawingml/2006/main" noGrp="1"/>
          </p:cNvSpPr>
          <p:nvPr/>
        </p:nvSpPr>
        <p:spPr>
          <a:xfrm xmlns:a="http://schemas.openxmlformats.org/drawingml/2006/main">
            <a:off x="7505700" y="31051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827"/>
                </a:solidFill>
                <a:latin typeface="Arial"/>
                <a:ea typeface="Arial"/>
                <a:cs typeface="Arial"/>
              </a:defRPr>
            </a:pPr>
            <a:r>
              <a:rPr sz="1575" b="1">
                <a:solidFill>
                  <a:srgbClr val="111827"/>
                </a:solidFill>
                <a:latin typeface="Arial"/>
                <a:ea typeface="Arial"/>
                <a:cs typeface="Arial"/>
              </a:rPr>
              <a:t>Audio A/B</a:t>
            </a:r>
          </a:p>
        </p:txBody>
      </p:sp>
      <p:sp>
        <p:nvSpPr>
          <p:cNvPr id="29" name="">
            <a:extLst xmlns:a="http://schemas.openxmlformats.org/drawingml/2006/main">
              <a:ext uri="{FF2B5EF4-FFF2-40B4-BE49-F238E27FC236}">
                <a16:creationId xmlns:a16="http://schemas.microsoft.com/office/drawing/2014/main" id="{FE3312BA-6C15-4FB7-95D6-CD9C5E42A41B}"/>
              </a:ext>
            </a:extLst>
          </p:cNvPr>
          <p:cNvSpPr>
            <a:spLocks xmlns:a="http://schemas.openxmlformats.org/drawingml/2006/main" noGrp="1"/>
          </p:cNvSpPr>
          <p:nvPr/>
        </p:nvSpPr>
        <p:spPr>
          <a:xfrm xmlns:a="http://schemas.openxmlformats.org/drawingml/2006/main">
            <a:off x="10267950" y="1847850"/>
            <a:ext cx="571500" cy="571500"/>
          </a:xfrm>
          <a:prstGeom xmlns:a="http://schemas.openxmlformats.org/drawingml/2006/main" prst="ellipse">
            <a:avLst/>
          </a:prstGeom>
          <a:solidFill xmlns:a="http://schemas.openxmlformats.org/drawingml/2006/main">
            <a:srgbClr val="111827"/>
          </a:solidFill>
          <a:ln xmlns:a="http://schemas.openxmlformats.org/drawingml/2006/main" w="0">
            <a:solidFill>
              <a:srgbClr val="111827"/>
            </a:solidFill>
            <a:prstDash val="solid"/>
          </a:ln>
        </p:spPr>
      </p:sp>
      <p:sp>
        <p:nvSpPr>
          <p:cNvPr id="30" name="">
            <a:extLst xmlns:a="http://schemas.openxmlformats.org/drawingml/2006/main">
              <a:ext uri="{FF2B5EF4-FFF2-40B4-BE49-F238E27FC236}">
                <a16:creationId xmlns:a16="http://schemas.microsoft.com/office/drawing/2014/main" id="{9A1B7D9D-DA61-4959-9BD7-97727BD96F29}"/>
              </a:ext>
            </a:extLst>
          </p:cNvPr>
          <p:cNvSpPr>
            <a:spLocks xmlns:a="http://schemas.openxmlformats.org/drawingml/2006/main" noGrp="1"/>
          </p:cNvSpPr>
          <p:nvPr/>
        </p:nvSpPr>
        <p:spPr>
          <a:xfrm xmlns:a="http://schemas.openxmlformats.org/drawingml/2006/main">
            <a:off x="10267950" y="18478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5</a:t>
            </a:r>
          </a:p>
        </p:txBody>
      </p:sp>
      <p:sp>
        <p:nvSpPr>
          <p:cNvPr id="31" name="">
            <a:extLst xmlns:a="http://schemas.openxmlformats.org/drawingml/2006/main">
              <a:ext uri="{FF2B5EF4-FFF2-40B4-BE49-F238E27FC236}">
                <a16:creationId xmlns:a16="http://schemas.microsoft.com/office/drawing/2014/main" id="{8B4024BC-A4E4-474B-B421-208912A126F5}"/>
              </a:ext>
            </a:extLst>
          </p:cNvPr>
          <p:cNvSpPr>
            <a:spLocks xmlns:a="http://schemas.openxmlformats.org/drawingml/2006/main" noGrp="1"/>
          </p:cNvSpPr>
          <p:nvPr/>
        </p:nvSpPr>
        <p:spPr>
          <a:xfrm xmlns:a="http://schemas.openxmlformats.org/drawingml/2006/main">
            <a:off x="9791700" y="262890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1769E0"/>
                </a:solidFill>
                <a:latin typeface="Arial"/>
                <a:ea typeface="Arial"/>
                <a:cs typeface="Arial"/>
              </a:defRPr>
            </a:pPr>
            <a:r>
              <a:rPr sz="1425" b="1">
                <a:solidFill>
                  <a:srgbClr val="1769E0"/>
                </a:solidFill>
                <a:latin typeface="Arial"/>
                <a:ea typeface="Arial"/>
                <a:cs typeface="Arial"/>
              </a:rPr>
              <a:t>MEDIR</a:t>
            </a:r>
          </a:p>
        </p:txBody>
      </p:sp>
      <p:sp>
        <p:nvSpPr>
          <p:cNvPr id="32" name="">
            <a:extLst xmlns:a="http://schemas.openxmlformats.org/drawingml/2006/main">
              <a:ext uri="{FF2B5EF4-FFF2-40B4-BE49-F238E27FC236}">
                <a16:creationId xmlns:a16="http://schemas.microsoft.com/office/drawing/2014/main" id="{DAD837CB-8975-4A89-A40B-09ACEA19918F}"/>
              </a:ext>
            </a:extLst>
          </p:cNvPr>
          <p:cNvSpPr>
            <a:spLocks xmlns:a="http://schemas.openxmlformats.org/drawingml/2006/main" noGrp="1"/>
          </p:cNvSpPr>
          <p:nvPr/>
        </p:nvSpPr>
        <p:spPr>
          <a:xfrm xmlns:a="http://schemas.openxmlformats.org/drawingml/2006/main">
            <a:off x="9791700" y="31051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827"/>
                </a:solidFill>
                <a:latin typeface="Arial"/>
                <a:ea typeface="Arial"/>
                <a:cs typeface="Arial"/>
              </a:defRPr>
            </a:pPr>
            <a:r>
              <a:rPr sz="1575" b="1">
                <a:solidFill>
                  <a:srgbClr val="111827"/>
                </a:solidFill>
                <a:latin typeface="Arial"/>
                <a:ea typeface="Arial"/>
                <a:cs typeface="Arial"/>
              </a:rPr>
              <a:t>Calidad + coste</a:t>
            </a:r>
          </a:p>
        </p:txBody>
      </p:sp>
      <p:sp>
        <p:nvSpPr>
          <p:cNvPr id="33" name="">
            <a:extLst xmlns:a="http://schemas.openxmlformats.org/drawingml/2006/main">
              <a:ext uri="{FF2B5EF4-FFF2-40B4-BE49-F238E27FC236}">
                <a16:creationId xmlns:a16="http://schemas.microsoft.com/office/drawing/2014/main" id="{7FE38C2B-F17A-44CA-AE3A-BD97022CA518}"/>
              </a:ext>
            </a:extLst>
          </p:cNvPr>
          <p:cNvSpPr>
            <a:spLocks xmlns:a="http://schemas.openxmlformats.org/drawingml/2006/main" noGrp="1"/>
          </p:cNvSpPr>
          <p:nvPr/>
        </p:nvSpPr>
        <p:spPr>
          <a:xfrm xmlns:a="http://schemas.openxmlformats.org/drawingml/2006/main">
            <a:off x="876300" y="4686300"/>
            <a:ext cx="10439400" cy="952500"/>
          </a:xfrm>
          <a:prstGeom xmlns:a="http://schemas.openxmlformats.org/drawingml/2006/main" prst="roundRect">
            <a:avLst>
              <a:gd name="adj" fmla="val 12000"/>
            </a:avLst>
          </a:prstGeom>
          <a:solidFill xmlns:a="http://schemas.openxmlformats.org/drawingml/2006/main">
            <a:srgbClr val="111827"/>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B930920B-E148-439D-ACE9-FD8662A1492F}"/>
              </a:ext>
            </a:extLst>
          </p:cNvPr>
          <p:cNvSpPr>
            <a:spLocks xmlns:a="http://schemas.openxmlformats.org/drawingml/2006/main" noGrp="1"/>
          </p:cNvSpPr>
          <p:nvPr/>
        </p:nvSpPr>
        <p:spPr>
          <a:xfrm xmlns:a="http://schemas.openxmlformats.org/drawingml/2006/main">
            <a:off x="1104900" y="482917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55C3F0"/>
                </a:solidFill>
                <a:latin typeface="Arial"/>
                <a:ea typeface="Arial"/>
                <a:cs typeface="Arial"/>
              </a:defRPr>
            </a:pPr>
            <a:r>
              <a:rPr sz="1350" b="1">
                <a:solidFill>
                  <a:srgbClr val="55C3F0"/>
                </a:solidFill>
                <a:latin typeface="Arial"/>
                <a:ea typeface="Arial"/>
                <a:cs typeface="Arial"/>
              </a:rPr>
              <a:t>DEMO SEGURA</a:t>
            </a:r>
          </a:p>
        </p:txBody>
      </p:sp>
      <p:sp>
        <p:nvSpPr>
          <p:cNvPr id="35" name="">
            <a:extLst xmlns:a="http://schemas.openxmlformats.org/drawingml/2006/main">
              <a:ext uri="{FF2B5EF4-FFF2-40B4-BE49-F238E27FC236}">
                <a16:creationId xmlns:a16="http://schemas.microsoft.com/office/drawing/2014/main" id="{7046156D-8307-49B1-85C4-DA4648120DD0}"/>
              </a:ext>
            </a:extLst>
          </p:cNvPr>
          <p:cNvSpPr>
            <a:spLocks xmlns:a="http://schemas.openxmlformats.org/drawingml/2006/main" noGrp="1"/>
          </p:cNvSpPr>
          <p:nvPr/>
        </p:nvSpPr>
        <p:spPr>
          <a:xfrm xmlns:a="http://schemas.openxmlformats.org/drawingml/2006/main">
            <a:off x="1104900" y="5133975"/>
            <a:ext cx="971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Estados y telemetría en vivo · efecto audible pre-renderizado · respaldo local</a:t>
            </a:r>
          </a:p>
        </p:txBody>
      </p:sp>
    </p:spTree>
    <p:extLst>
      <p:ext uri="{BB962C8B-B14F-4D97-AF65-F5344CB8AC3E}">
        <p14:creationId xmlns:p14="http://schemas.microsoft.com/office/powerpoint/2010/main" val="20328716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F38F1C7-C7AC-4F83-A6CA-E53884D001CB}"/>
              </a:ext>
            </a:extLst>
          </p:cNvPr>
          <p:cNvSpPr>
            <a:spLocks xmlns:a="http://schemas.openxmlformats.org/drawingml/2006/main" noGrp="1"/>
          </p:cNvSpPr>
          <p:nvPr/>
        </p:nvSpPr>
        <p:spPr>
          <a:xfrm xmlns:a="http://schemas.openxmlformats.org/drawingml/2006/main">
            <a:off x="552450" y="2286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827"/>
                </a:solidFill>
                <a:latin typeface="Arial"/>
                <a:ea typeface="Arial"/>
                <a:cs typeface="Arial"/>
              </a:defRPr>
            </a:pPr>
            <a:r>
              <a:rPr sz="2850" b="1">
                <a:solidFill>
                  <a:srgbClr val="111827"/>
                </a:solidFill>
                <a:latin typeface="Arial"/>
                <a:ea typeface="Arial"/>
                <a:cs typeface="Arial"/>
              </a:rPr>
              <a:t>Resultados preliminares: factibilidad, no conclusión científica</a:t>
            </a:r>
          </a:p>
        </p:txBody>
      </p:sp>
      <p:sp>
        <p:nvSpPr>
          <p:cNvPr id="2" name="">
            <a:extLst xmlns:a="http://schemas.openxmlformats.org/drawingml/2006/main">
              <a:ext uri="{FF2B5EF4-FFF2-40B4-BE49-F238E27FC236}">
                <a16:creationId xmlns:a16="http://schemas.microsoft.com/office/drawing/2014/main" id="{07AF3182-81C5-41EB-BAA4-4AD39EB5BE0D}"/>
              </a:ext>
            </a:extLst>
          </p:cNvPr>
          <p:cNvSpPr>
            <a:spLocks xmlns:a="http://schemas.openxmlformats.org/drawingml/2006/main" noGrp="1"/>
          </p:cNvSpPr>
          <p:nvPr/>
        </p:nvSpPr>
        <p:spPr>
          <a:xfrm xmlns:a="http://schemas.openxmlformats.org/drawingml/2006/main">
            <a:off x="457200" y="1323975"/>
            <a:ext cx="11277600" cy="19050"/>
          </a:xfrm>
          <a:prstGeom xmlns:a="http://schemas.openxmlformats.org/drawingml/2006/main" prst="rect">
            <a:avLst/>
          </a:prstGeom>
          <a:solidFill xmlns:a="http://schemas.openxmlformats.org/drawingml/2006/main">
            <a:srgbClr val="E8EDF3"/>
          </a:solidFill>
          <a:ln xmlns:a="http://schemas.openxmlformats.org/drawingml/2006/main" w="0">
            <a:solidFill>
              <a:srgbClr val="E8EDF3"/>
            </a:solidFill>
            <a:prstDash val="solid"/>
          </a:ln>
        </p:spPr>
      </p:sp>
      <p:sp>
        <p:nvSpPr>
          <p:cNvPr id="3" name="">
            <a:extLst xmlns:a="http://schemas.openxmlformats.org/drawingml/2006/main">
              <a:ext uri="{FF2B5EF4-FFF2-40B4-BE49-F238E27FC236}">
                <a16:creationId xmlns:a16="http://schemas.microsoft.com/office/drawing/2014/main" id="{604DB2C2-6DC7-4EA5-9060-074514E11F6C}"/>
              </a:ext>
            </a:extLst>
          </p:cNvPr>
          <p:cNvSpPr>
            <a:spLocks xmlns:a="http://schemas.openxmlformats.org/drawingml/2006/main" noGrp="1"/>
          </p:cNvSpPr>
          <p:nvPr/>
        </p:nvSpPr>
        <p:spPr>
          <a:xfrm xmlns:a="http://schemas.openxmlformats.org/drawingml/2006/main">
            <a:off x="1118235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0">
                <a:solidFill>
                  <a:srgbClr val="5B6472"/>
                </a:solidFill>
                <a:latin typeface="Arial"/>
                <a:ea typeface="Arial"/>
                <a:cs typeface="Arial"/>
              </a:defRPr>
            </a:pPr>
            <a:r>
              <a:rPr sz="1200" b="0">
                <a:solidFill>
                  <a:srgbClr val="5B6472"/>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8AF39D55-0253-4DBD-8342-6B177C18B8A1}"/>
              </a:ext>
            </a:extLst>
          </p:cNvPr>
          <p:cNvSpPr>
            <a:spLocks xmlns:a="http://schemas.openxmlformats.org/drawingml/2006/main" noGrp="1"/>
          </p:cNvSpPr>
          <p:nvPr/>
        </p:nvSpPr>
        <p:spPr>
          <a:xfrm xmlns:a="http://schemas.openxmlformats.org/drawingml/2006/main">
            <a:off x="552450" y="1466850"/>
            <a:ext cx="5600700" cy="323850"/>
          </a:xfrm>
          <a:prstGeom xmlns:a="http://schemas.openxmlformats.org/drawingml/2006/main" prst="roundRect">
            <a:avLst>
              <a:gd name="adj" fmla="val 35294"/>
            </a:avLst>
          </a:prstGeom>
          <a:solidFill xmlns:a="http://schemas.openxmlformats.org/drawingml/2006/main">
            <a:srgbClr val="FFF1DE"/>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F92973-E37D-4A07-8885-1B015A89E7B4}"/>
              </a:ext>
            </a:extLst>
          </p:cNvPr>
          <p:cNvSpPr>
            <a:spLocks xmlns:a="http://schemas.openxmlformats.org/drawingml/2006/main" noGrp="1"/>
          </p:cNvSpPr>
          <p:nvPr/>
        </p:nvSpPr>
        <p:spPr>
          <a:xfrm xmlns:a="http://schemas.openxmlformats.org/drawingml/2006/main">
            <a:off x="628650" y="1466850"/>
            <a:ext cx="544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C57816"/>
                </a:solidFill>
                <a:latin typeface="Arial"/>
                <a:ea typeface="Arial"/>
                <a:cs typeface="Arial"/>
              </a:defRPr>
            </a:pPr>
            <a:r>
              <a:rPr sz="1200" b="1">
                <a:solidFill>
                  <a:srgbClr val="C57816"/>
                </a:solidFill>
                <a:latin typeface="Arial"/>
                <a:ea typeface="Arial"/>
                <a:cs typeface="Arial"/>
              </a:rPr>
              <a:t>SIMULACIÓN · SEÑAL SINTÉTICA · PARÁMETROS NO CONGELADOS</a:t>
            </a:r>
          </a:p>
        </p:txBody>
      </p:sp>
      <p:graphicFrame>
        <p:nvGraphicFramePr>
          <p:cNvPr id="22" name="Chart"/>
          <p:cNvGraphicFramePr/>
          <p:nvPr/>
        </p:nvGraphicFramePr>
        <p:xfrm>
          <a:off xmlns:a="http://schemas.openxmlformats.org/drawingml/2006/main" x="514350" y="2000250"/>
          <a:ext xmlns:a="http://schemas.openxmlformats.org/drawingml/2006/main" cx="6572250" cy="3667125"/>
        </p:xfrm>
        <a:graphic xmlns:a="http://schemas.openxmlformats.org/drawingml/2006/main">
          <a:graphicData uri="http://schemas.openxmlformats.org/drawingml/2006/chart">
            <c:chart xmlns:r="http://schemas.openxmlformats.org/officeDocument/2006/relationships" xmlns:c="http://schemas.openxmlformats.org/drawingml/2006/chart" r:id="R954532ddbd214938"/>
          </a:graphicData>
        </a:graphic>
      </p:graphicFrame>
      <p:sp>
        <p:nvSpPr>
          <p:cNvPr id="7" name="">
            <a:extLst xmlns:a="http://schemas.openxmlformats.org/drawingml/2006/main">
              <a:ext uri="{FF2B5EF4-FFF2-40B4-BE49-F238E27FC236}">
                <a16:creationId xmlns:a16="http://schemas.microsoft.com/office/drawing/2014/main" id="{1D7A7D7E-45D9-4237-BB6A-DB166675BC41}"/>
              </a:ext>
            </a:extLst>
          </p:cNvPr>
          <p:cNvSpPr>
            <a:spLocks xmlns:a="http://schemas.openxmlformats.org/drawingml/2006/main" noGrp="1"/>
          </p:cNvSpPr>
          <p:nvPr/>
        </p:nvSpPr>
        <p:spPr>
          <a:xfrm xmlns:a="http://schemas.openxmlformats.org/drawingml/2006/main">
            <a:off x="7524750" y="1971675"/>
            <a:ext cx="3829050" cy="1028700"/>
          </a:xfrm>
          <a:prstGeom xmlns:a="http://schemas.openxmlformats.org/drawingml/2006/main" prst="roundRect">
            <a:avLst>
              <a:gd name="adj" fmla="val 11111"/>
            </a:avLst>
          </a:prstGeom>
          <a:solidFill xmlns:a="http://schemas.openxmlformats.org/drawingml/2006/main">
            <a:srgbClr val="F3F5F7"/>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3E97191-647F-4259-BA93-15EE2EB45E3C}"/>
              </a:ext>
            </a:extLst>
          </p:cNvPr>
          <p:cNvSpPr>
            <a:spLocks xmlns:a="http://schemas.openxmlformats.org/drawingml/2006/main" noGrp="1"/>
          </p:cNvSpPr>
          <p:nvPr/>
        </p:nvSpPr>
        <p:spPr>
          <a:xfrm xmlns:a="http://schemas.openxmlformats.org/drawingml/2006/main">
            <a:off x="7753350" y="20859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769E0"/>
                </a:solidFill>
                <a:latin typeface="Arial"/>
                <a:ea typeface="Arial"/>
                <a:cs typeface="Arial"/>
              </a:defRPr>
            </a:pPr>
            <a:r>
              <a:rPr sz="2250" b="1">
                <a:solidFill>
                  <a:srgbClr val="1769E0"/>
                </a:solidFill>
                <a:latin typeface="Arial"/>
                <a:ea typeface="Arial"/>
                <a:cs typeface="Arial"/>
              </a:rPr>
              <a:t>+9,70 dB</a:t>
            </a:r>
          </a:p>
        </p:txBody>
      </p:sp>
      <p:sp>
        <p:nvSpPr>
          <p:cNvPr id="9" name="">
            <a:extLst xmlns:a="http://schemas.openxmlformats.org/drawingml/2006/main">
              <a:ext uri="{FF2B5EF4-FFF2-40B4-BE49-F238E27FC236}">
                <a16:creationId xmlns:a16="http://schemas.microsoft.com/office/drawing/2014/main" id="{66336E42-718E-4E5F-BD65-F44269BD5742}"/>
              </a:ext>
            </a:extLst>
          </p:cNvPr>
          <p:cNvSpPr>
            <a:spLocks xmlns:a="http://schemas.openxmlformats.org/drawingml/2006/main" noGrp="1"/>
          </p:cNvSpPr>
          <p:nvPr/>
        </p:nvSpPr>
        <p:spPr>
          <a:xfrm xmlns:a="http://schemas.openxmlformats.org/drawingml/2006/main">
            <a:off x="9525000" y="2038350"/>
            <a:ext cx="1581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latin typeface="Arial"/>
                <a:ea typeface="Arial"/>
                <a:cs typeface="Arial"/>
              </a:defRPr>
            </a:pPr>
            <a:r>
              <a:rPr sz="1350" b="1">
                <a:solidFill>
                  <a:srgbClr val="111827"/>
                </a:solidFill>
                <a:latin typeface="Arial"/>
                <a:ea typeface="Arial"/>
                <a:cs typeface="Arial"/>
              </a:rPr>
              <a:t>SI-SDR manual</a:t>
            </a:r>
          </a:p>
          <a:p xmlns:a="http://schemas.openxmlformats.org/drawingml/2006/main">
            <a:pPr algn="l">
              <a:defRPr sz="1350" b="1">
                <a:solidFill>
                  <a:srgbClr val="111827"/>
                </a:solidFill>
                <a:latin typeface="Arial"/>
                <a:ea typeface="Arial"/>
                <a:cs typeface="Arial"/>
              </a:defRPr>
            </a:pPr>
            <a:r>
              <a:rPr sz="1350" b="1">
                <a:solidFill>
                  <a:srgbClr val="111827"/>
                </a:solidFill>
                <a:latin typeface="Arial"/>
                <a:ea typeface="Arial"/>
                <a:cs typeface="Arial"/>
              </a:rPr>
              <a:t>vs. sin proceso</a:t>
            </a:r>
          </a:p>
        </p:txBody>
      </p:sp>
      <p:sp>
        <p:nvSpPr>
          <p:cNvPr id="10" name="">
            <a:extLst xmlns:a="http://schemas.openxmlformats.org/drawingml/2006/main">
              <a:ext uri="{FF2B5EF4-FFF2-40B4-BE49-F238E27FC236}">
                <a16:creationId xmlns:a16="http://schemas.microsoft.com/office/drawing/2014/main" id="{1AFAA2C2-44CE-43BB-8D69-E46E45EAAD2B}"/>
              </a:ext>
            </a:extLst>
          </p:cNvPr>
          <p:cNvSpPr>
            <a:spLocks xmlns:a="http://schemas.openxmlformats.org/drawingml/2006/main" noGrp="1"/>
          </p:cNvSpPr>
          <p:nvPr/>
        </p:nvSpPr>
        <p:spPr>
          <a:xfrm xmlns:a="http://schemas.openxmlformats.org/drawingml/2006/main">
            <a:off x="7524750" y="3209925"/>
            <a:ext cx="3829050" cy="1028700"/>
          </a:xfrm>
          <a:prstGeom xmlns:a="http://schemas.openxmlformats.org/drawingml/2006/main" prst="roundRect">
            <a:avLst>
              <a:gd name="adj" fmla="val 11111"/>
            </a:avLst>
          </a:prstGeom>
          <a:solidFill xmlns:a="http://schemas.openxmlformats.org/drawingml/2006/main">
            <a:srgbClr val="F3F5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5184574-21A6-499C-9317-4065F33D1F51}"/>
              </a:ext>
            </a:extLst>
          </p:cNvPr>
          <p:cNvSpPr>
            <a:spLocks xmlns:a="http://schemas.openxmlformats.org/drawingml/2006/main" noGrp="1"/>
          </p:cNvSpPr>
          <p:nvPr/>
        </p:nvSpPr>
        <p:spPr>
          <a:xfrm xmlns:a="http://schemas.openxmlformats.org/drawingml/2006/main">
            <a:off x="7753350" y="332422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16845B"/>
                </a:solidFill>
                <a:latin typeface="Arial"/>
                <a:ea typeface="Arial"/>
                <a:cs typeface="Arial"/>
              </a:defRPr>
            </a:pPr>
            <a:r>
              <a:rPr sz="2250" b="1">
                <a:solidFill>
                  <a:srgbClr val="16845B"/>
                </a:solidFill>
                <a:latin typeface="Arial"/>
                <a:ea typeface="Arial"/>
                <a:cs typeface="Arial"/>
              </a:rPr>
              <a:t>7,85 dB</a:t>
            </a:r>
          </a:p>
        </p:txBody>
      </p:sp>
      <p:sp>
        <p:nvSpPr>
          <p:cNvPr id="12" name="">
            <a:extLst xmlns:a="http://schemas.openxmlformats.org/drawingml/2006/main">
              <a:ext uri="{FF2B5EF4-FFF2-40B4-BE49-F238E27FC236}">
                <a16:creationId xmlns:a16="http://schemas.microsoft.com/office/drawing/2014/main" id="{FD3A8FAE-87FB-456C-89E9-BB0DC04A7C24}"/>
              </a:ext>
            </a:extLst>
          </p:cNvPr>
          <p:cNvSpPr>
            <a:spLocks xmlns:a="http://schemas.openxmlformats.org/drawingml/2006/main" noGrp="1"/>
          </p:cNvSpPr>
          <p:nvPr/>
        </p:nvSpPr>
        <p:spPr>
          <a:xfrm xmlns:a="http://schemas.openxmlformats.org/drawingml/2006/main">
            <a:off x="9525000" y="3276600"/>
            <a:ext cx="1581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latin typeface="Arial"/>
                <a:ea typeface="Arial"/>
                <a:cs typeface="Arial"/>
              </a:defRPr>
            </a:pPr>
            <a:r>
              <a:rPr sz="1350" b="1">
                <a:solidFill>
                  <a:srgbClr val="111827"/>
                </a:solidFill>
                <a:latin typeface="Arial"/>
                <a:ea typeface="Arial"/>
                <a:cs typeface="Arial"/>
              </a:rPr>
              <a:t>feedback reducido</a:t>
            </a:r>
          </a:p>
          <a:p xmlns:a="http://schemas.openxmlformats.org/drawingml/2006/main">
            <a:pPr algn="l">
              <a:defRPr sz="1350" b="1">
                <a:solidFill>
                  <a:srgbClr val="111827"/>
                </a:solidFill>
                <a:latin typeface="Arial"/>
                <a:ea typeface="Arial"/>
                <a:cs typeface="Arial"/>
              </a:defRPr>
            </a:pPr>
            <a:r>
              <a:rPr sz="1350" b="1">
                <a:solidFill>
                  <a:srgbClr val="111827"/>
                </a:solidFill>
                <a:latin typeface="Arial"/>
                <a:ea typeface="Arial"/>
                <a:cs typeface="Arial"/>
              </a:rPr>
              <a:t>(ERLE manual)</a:t>
            </a:r>
          </a:p>
        </p:txBody>
      </p:sp>
      <p:sp>
        <p:nvSpPr>
          <p:cNvPr id="13" name="">
            <a:extLst xmlns:a="http://schemas.openxmlformats.org/drawingml/2006/main">
              <a:ext uri="{FF2B5EF4-FFF2-40B4-BE49-F238E27FC236}">
                <a16:creationId xmlns:a16="http://schemas.microsoft.com/office/drawing/2014/main" id="{DEFB632F-39AF-4B36-BE42-D2B96DCFCA6E}"/>
              </a:ext>
            </a:extLst>
          </p:cNvPr>
          <p:cNvSpPr>
            <a:spLocks xmlns:a="http://schemas.openxmlformats.org/drawingml/2006/main" noGrp="1"/>
          </p:cNvSpPr>
          <p:nvPr/>
        </p:nvSpPr>
        <p:spPr>
          <a:xfrm xmlns:a="http://schemas.openxmlformats.org/drawingml/2006/main">
            <a:off x="7524750" y="4448175"/>
            <a:ext cx="3829050" cy="1028700"/>
          </a:xfrm>
          <a:prstGeom xmlns:a="http://schemas.openxmlformats.org/drawingml/2006/main" prst="roundRect">
            <a:avLst>
              <a:gd name="adj" fmla="val 11111"/>
            </a:avLst>
          </a:prstGeom>
          <a:solidFill xmlns:a="http://schemas.openxmlformats.org/drawingml/2006/main">
            <a:srgbClr val="F3F5F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464ACB4-A613-4396-992A-CFDBDCEC8462}"/>
              </a:ext>
            </a:extLst>
          </p:cNvPr>
          <p:cNvSpPr>
            <a:spLocks xmlns:a="http://schemas.openxmlformats.org/drawingml/2006/main" noGrp="1"/>
          </p:cNvSpPr>
          <p:nvPr/>
        </p:nvSpPr>
        <p:spPr>
          <a:xfrm xmlns:a="http://schemas.openxmlformats.org/drawingml/2006/main">
            <a:off x="7753350" y="4562475"/>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250" b="1">
                <a:solidFill>
                  <a:srgbClr val="C57816"/>
                </a:solidFill>
                <a:latin typeface="Arial"/>
                <a:ea typeface="Arial"/>
                <a:cs typeface="Arial"/>
              </a:defRPr>
            </a:pPr>
            <a:r>
              <a:rPr sz="2250" b="1">
                <a:solidFill>
                  <a:srgbClr val="C57816"/>
                </a:solidFill>
                <a:latin typeface="Arial"/>
                <a:ea typeface="Arial"/>
                <a:cs typeface="Arial"/>
              </a:rPr>
              <a:t>0,24–0,26</a:t>
            </a:r>
          </a:p>
        </p:txBody>
      </p:sp>
      <p:sp>
        <p:nvSpPr>
          <p:cNvPr id="15" name="">
            <a:extLst xmlns:a="http://schemas.openxmlformats.org/drawingml/2006/main">
              <a:ext uri="{FF2B5EF4-FFF2-40B4-BE49-F238E27FC236}">
                <a16:creationId xmlns:a16="http://schemas.microsoft.com/office/drawing/2014/main" id="{633F6207-BB34-428B-9F03-4AC50E220B5B}"/>
              </a:ext>
            </a:extLst>
          </p:cNvPr>
          <p:cNvSpPr>
            <a:spLocks xmlns:a="http://schemas.openxmlformats.org/drawingml/2006/main" noGrp="1"/>
          </p:cNvSpPr>
          <p:nvPr/>
        </p:nvSpPr>
        <p:spPr>
          <a:xfrm xmlns:a="http://schemas.openxmlformats.org/drawingml/2006/main">
            <a:off x="9525000" y="4514850"/>
            <a:ext cx="1581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111827"/>
                </a:solidFill>
                <a:latin typeface="Arial"/>
                <a:ea typeface="Arial"/>
                <a:cs typeface="Arial"/>
              </a:defRPr>
            </a:pPr>
            <a:r>
              <a:rPr sz="1350" b="1">
                <a:solidFill>
                  <a:srgbClr val="111827"/>
                </a:solidFill>
                <a:latin typeface="Arial"/>
                <a:ea typeface="Arial"/>
                <a:cs typeface="Arial"/>
              </a:rPr>
              <a:t>RTF en Python</a:t>
            </a:r>
          </a:p>
          <a:p xmlns:a="http://schemas.openxmlformats.org/drawingml/2006/main">
            <a:pPr algn="l">
              <a:defRPr sz="1350" b="1">
                <a:solidFill>
                  <a:srgbClr val="111827"/>
                </a:solidFill>
                <a:latin typeface="Arial"/>
                <a:ea typeface="Arial"/>
                <a:cs typeface="Arial"/>
              </a:defRPr>
            </a:pPr>
            <a:r>
              <a:rPr sz="1350" b="1">
                <a:solidFill>
                  <a:srgbClr val="111827"/>
                </a:solidFill>
                <a:latin typeface="Arial"/>
                <a:ea typeface="Arial"/>
                <a:cs typeface="Arial"/>
              </a:rPr>
              <a:t>(no callback JUCE)</a:t>
            </a:r>
          </a:p>
        </p:txBody>
      </p:sp>
      <p:sp>
        <p:nvSpPr>
          <p:cNvPr id="16" name="">
            <a:extLst xmlns:a="http://schemas.openxmlformats.org/drawingml/2006/main">
              <a:ext uri="{FF2B5EF4-FFF2-40B4-BE49-F238E27FC236}">
                <a16:creationId xmlns:a16="http://schemas.microsoft.com/office/drawing/2014/main" id="{F43D44BA-9622-4AD3-A8AC-EE90D49EAA39}"/>
              </a:ext>
            </a:extLst>
          </p:cNvPr>
          <p:cNvSpPr>
            <a:spLocks xmlns:a="http://schemas.openxmlformats.org/drawingml/2006/main" noGrp="1"/>
          </p:cNvSpPr>
          <p:nvPr/>
        </p:nvSpPr>
        <p:spPr>
          <a:xfrm xmlns:a="http://schemas.openxmlformats.org/drawingml/2006/main">
            <a:off x="552450" y="5915025"/>
            <a:ext cx="1076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5B6472"/>
                </a:solidFill>
                <a:latin typeface="Arial"/>
                <a:ea typeface="Arial"/>
                <a:cs typeface="Arial"/>
              </a:defRPr>
            </a:pPr>
            <a:r>
              <a:rPr sz="1350" b="0">
                <a:solidFill>
                  <a:srgbClr val="5B6472"/>
                </a:solidFill>
                <a:latin typeface="Arial"/>
                <a:ea typeface="Arial"/>
                <a:cs typeface="Arial"/>
              </a:rPr>
              <a:t>Condición: 48 kHz · 8 s · SNR 20 dB · margen 1,5 dB · FIR real 512 / estimado 128 · semilla 20260826</a:t>
            </a:r>
          </a:p>
        </p:txBody>
      </p:sp>
    </p:spTree>
    <p:extLst>
      <p:ext uri="{BB962C8B-B14F-4D97-AF65-F5344CB8AC3E}">
        <p14:creationId xmlns:p14="http://schemas.microsoft.com/office/powerpoint/2010/main" val="1607934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58331B3-9CF5-4E3F-BDCD-17643FC253E9}"/>
              </a:ext>
            </a:extLst>
          </p:cNvPr>
          <p:cNvSpPr>
            <a:spLocks xmlns:a="http://schemas.openxmlformats.org/drawingml/2006/main" noGrp="1"/>
          </p:cNvSpPr>
          <p:nvPr/>
        </p:nvSpPr>
        <p:spPr>
          <a:xfrm xmlns:a="http://schemas.openxmlformats.org/drawingml/2006/main">
            <a:off x="552450" y="22860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111827"/>
                </a:solidFill>
                <a:latin typeface="Arial"/>
                <a:ea typeface="Arial"/>
                <a:cs typeface="Arial"/>
              </a:defRPr>
            </a:pPr>
            <a:r>
              <a:rPr sz="2850" b="1">
                <a:solidFill>
                  <a:srgbClr val="111827"/>
                </a:solidFill>
                <a:latin typeface="Arial"/>
                <a:ea typeface="Arial"/>
                <a:cs typeface="Arial"/>
              </a:rPr>
              <a:t>El próximo hito: de plataforma a comparación científica</a:t>
            </a:r>
          </a:p>
        </p:txBody>
      </p:sp>
      <p:sp>
        <p:nvSpPr>
          <p:cNvPr id="2" name="">
            <a:extLst xmlns:a="http://schemas.openxmlformats.org/drawingml/2006/main">
              <a:ext uri="{FF2B5EF4-FFF2-40B4-BE49-F238E27FC236}">
                <a16:creationId xmlns:a16="http://schemas.microsoft.com/office/drawing/2014/main" id="{0D5DE012-448A-4C39-BF7B-883F4C15BE8B}"/>
              </a:ext>
            </a:extLst>
          </p:cNvPr>
          <p:cNvSpPr>
            <a:spLocks xmlns:a="http://schemas.openxmlformats.org/drawingml/2006/main" noGrp="1"/>
          </p:cNvSpPr>
          <p:nvPr/>
        </p:nvSpPr>
        <p:spPr>
          <a:xfrm xmlns:a="http://schemas.openxmlformats.org/drawingml/2006/main">
            <a:off x="457200" y="1323975"/>
            <a:ext cx="11277600" cy="19050"/>
          </a:xfrm>
          <a:prstGeom xmlns:a="http://schemas.openxmlformats.org/drawingml/2006/main" prst="rect">
            <a:avLst/>
          </a:prstGeom>
          <a:solidFill xmlns:a="http://schemas.openxmlformats.org/drawingml/2006/main">
            <a:srgbClr val="E8EDF3"/>
          </a:solidFill>
          <a:ln xmlns:a="http://schemas.openxmlformats.org/drawingml/2006/main" w="0">
            <a:solidFill>
              <a:srgbClr val="E8EDF3"/>
            </a:solidFill>
            <a:prstDash val="solid"/>
          </a:ln>
        </p:spPr>
      </p:sp>
      <p:sp>
        <p:nvSpPr>
          <p:cNvPr id="3" name="">
            <a:extLst xmlns:a="http://schemas.openxmlformats.org/drawingml/2006/main">
              <a:ext uri="{FF2B5EF4-FFF2-40B4-BE49-F238E27FC236}">
                <a16:creationId xmlns:a16="http://schemas.microsoft.com/office/drawing/2014/main" id="{AE8BF6A7-7204-4C78-9E65-7EC15BB94F41}"/>
              </a:ext>
            </a:extLst>
          </p:cNvPr>
          <p:cNvSpPr>
            <a:spLocks xmlns:a="http://schemas.openxmlformats.org/drawingml/2006/main" noGrp="1"/>
          </p:cNvSpPr>
          <p:nvPr/>
        </p:nvSpPr>
        <p:spPr>
          <a:xfrm xmlns:a="http://schemas.openxmlformats.org/drawingml/2006/main">
            <a:off x="11182350" y="6419850"/>
            <a:ext cx="55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200" b="0">
                <a:solidFill>
                  <a:srgbClr val="5B6472"/>
                </a:solidFill>
                <a:latin typeface="Arial"/>
                <a:ea typeface="Arial"/>
                <a:cs typeface="Arial"/>
              </a:defRPr>
            </a:pPr>
            <a:r>
              <a:rPr sz="1200" b="0">
                <a:solidFill>
                  <a:srgbClr val="5B6472"/>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761A38DE-2A18-48CE-94DC-28841FD8B3E1}"/>
              </a:ext>
            </a:extLst>
          </p:cNvPr>
          <p:cNvSpPr>
            <a:spLocks xmlns:a="http://schemas.openxmlformats.org/drawingml/2006/main" noGrp="1"/>
          </p:cNvSpPr>
          <p:nvPr/>
        </p:nvSpPr>
        <p:spPr>
          <a:xfrm xmlns:a="http://schemas.openxmlformats.org/drawingml/2006/main">
            <a:off x="533400" y="1809750"/>
            <a:ext cx="2476500" cy="2609850"/>
          </a:xfrm>
          <a:prstGeom xmlns:a="http://schemas.openxmlformats.org/drawingml/2006/main" prst="roundRect">
            <a:avLst>
              <a:gd name="adj" fmla="val 4615"/>
            </a:avLst>
          </a:prstGeom>
          <a:solidFill xmlns:a="http://schemas.openxmlformats.org/drawingml/2006/main">
            <a:srgbClr val="F3F5F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511B2BE-69E4-4421-B131-79F8126B0B4E}"/>
              </a:ext>
            </a:extLst>
          </p:cNvPr>
          <p:cNvSpPr>
            <a:spLocks xmlns:a="http://schemas.openxmlformats.org/drawingml/2006/main" noGrp="1"/>
          </p:cNvSpPr>
          <p:nvPr/>
        </p:nvSpPr>
        <p:spPr>
          <a:xfrm xmlns:a="http://schemas.openxmlformats.org/drawingml/2006/main">
            <a:off x="742950" y="2009775"/>
            <a:ext cx="476250" cy="476250"/>
          </a:xfrm>
          <a:prstGeom xmlns:a="http://schemas.openxmlformats.org/drawingml/2006/main" prst="ellipse">
            <a:avLst/>
          </a:prstGeom>
          <a:solidFill xmlns:a="http://schemas.openxmlformats.org/drawingml/2006/main">
            <a:srgbClr val="1769E0"/>
          </a:solidFill>
          <a:ln xmlns:a="http://schemas.openxmlformats.org/drawingml/2006/main" w="0">
            <a:solidFill>
              <a:srgbClr val="1769E0"/>
            </a:solidFill>
            <a:prstDash val="solid"/>
          </a:ln>
        </p:spPr>
      </p:sp>
      <p:sp>
        <p:nvSpPr>
          <p:cNvPr id="6" name="">
            <a:extLst xmlns:a="http://schemas.openxmlformats.org/drawingml/2006/main">
              <a:ext uri="{FF2B5EF4-FFF2-40B4-BE49-F238E27FC236}">
                <a16:creationId xmlns:a16="http://schemas.microsoft.com/office/drawing/2014/main" id="{40AAA8C6-5D06-4EA5-A09E-42E6C72DD8AA}"/>
              </a:ext>
            </a:extLst>
          </p:cNvPr>
          <p:cNvSpPr>
            <a:spLocks xmlns:a="http://schemas.openxmlformats.org/drawingml/2006/main" noGrp="1"/>
          </p:cNvSpPr>
          <p:nvPr/>
        </p:nvSpPr>
        <p:spPr>
          <a:xfrm xmlns:a="http://schemas.openxmlformats.org/drawingml/2006/main">
            <a:off x="742950" y="20097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A76EBAED-460F-4570-9614-17067B9C117E}"/>
              </a:ext>
            </a:extLst>
          </p:cNvPr>
          <p:cNvSpPr>
            <a:spLocks xmlns:a="http://schemas.openxmlformats.org/drawingml/2006/main" noGrp="1"/>
          </p:cNvSpPr>
          <p:nvPr/>
        </p:nvSpPr>
        <p:spPr>
          <a:xfrm xmlns:a="http://schemas.openxmlformats.org/drawingml/2006/main">
            <a:off x="742950" y="2686050"/>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69E0"/>
                </a:solidFill>
                <a:latin typeface="Arial"/>
                <a:ea typeface="Arial"/>
                <a:cs typeface="Arial"/>
              </a:defRPr>
            </a:pPr>
            <a:r>
              <a:rPr sz="1575" b="1">
                <a:solidFill>
                  <a:srgbClr val="1769E0"/>
                </a:solidFill>
                <a:latin typeface="Arial"/>
                <a:ea typeface="Arial"/>
                <a:cs typeface="Arial"/>
              </a:rPr>
              <a:t>DATASETS</a:t>
            </a:r>
          </a:p>
        </p:txBody>
      </p:sp>
      <p:sp>
        <p:nvSpPr>
          <p:cNvPr id="8" name="">
            <a:extLst xmlns:a="http://schemas.openxmlformats.org/drawingml/2006/main">
              <a:ext uri="{FF2B5EF4-FFF2-40B4-BE49-F238E27FC236}">
                <a16:creationId xmlns:a16="http://schemas.microsoft.com/office/drawing/2014/main" id="{DBD9CE33-FF39-4142-8373-647197B3E054}"/>
              </a:ext>
            </a:extLst>
          </p:cNvPr>
          <p:cNvSpPr>
            <a:spLocks xmlns:a="http://schemas.openxmlformats.org/drawingml/2006/main" noGrp="1"/>
          </p:cNvSpPr>
          <p:nvPr/>
        </p:nvSpPr>
        <p:spPr>
          <a:xfrm xmlns:a="http://schemas.openxmlformats.org/drawingml/2006/main">
            <a:off x="742950" y="3114675"/>
            <a:ext cx="205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latin typeface="Arial"/>
                <a:ea typeface="Arial"/>
                <a:cs typeface="Arial"/>
              </a:defRPr>
            </a:pPr>
            <a:r>
              <a:rPr sz="1425" b="1">
                <a:solidFill>
                  <a:srgbClr val="111827"/>
                </a:solidFill>
                <a:latin typeface="Arial"/>
                <a:ea typeface="Arial"/>
                <a:cs typeface="Arial"/>
              </a:rPr>
              <a:t>VCTK · VocalSet · MUSDB18-HQ</a:t>
            </a:r>
          </a:p>
        </p:txBody>
      </p:sp>
      <p:sp>
        <p:nvSpPr>
          <p:cNvPr id="9" name="">
            <a:extLst xmlns:a="http://schemas.openxmlformats.org/drawingml/2006/main">
              <a:ext uri="{FF2B5EF4-FFF2-40B4-BE49-F238E27FC236}">
                <a16:creationId xmlns:a16="http://schemas.microsoft.com/office/drawing/2014/main" id="{5567FBD6-A841-4582-A1C4-0591B5EAEECA}"/>
              </a:ext>
            </a:extLst>
          </p:cNvPr>
          <p:cNvSpPr>
            <a:spLocks xmlns:a="http://schemas.openxmlformats.org/drawingml/2006/main" noGrp="1"/>
          </p:cNvSpPr>
          <p:nvPr/>
        </p:nvSpPr>
        <p:spPr>
          <a:xfrm xmlns:a="http://schemas.openxmlformats.org/drawingml/2006/main">
            <a:off x="742950" y="3743325"/>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latin typeface="Arial"/>
                <a:ea typeface="Arial"/>
                <a:cs typeface="Arial"/>
              </a:defRPr>
            </a:pPr>
            <a:r>
              <a:rPr sz="1275" b="0">
                <a:solidFill>
                  <a:srgbClr val="5B6472"/>
                </a:solidFill>
                <a:latin typeface="Arial"/>
                <a:ea typeface="Arial"/>
                <a:cs typeface="Arial"/>
              </a:rPr>
              <a:t>Separación por identidad</a:t>
            </a:r>
          </a:p>
        </p:txBody>
      </p:sp>
      <p:sp>
        <p:nvSpPr>
          <p:cNvPr id="10" name="">
            <a:extLst xmlns:a="http://schemas.openxmlformats.org/drawingml/2006/main">
              <a:ext uri="{FF2B5EF4-FFF2-40B4-BE49-F238E27FC236}">
                <a16:creationId xmlns:a16="http://schemas.microsoft.com/office/drawing/2014/main" id="{FB11DA1B-E6A9-4E8B-A03F-8B92CEEA89DB}"/>
              </a:ext>
            </a:extLst>
          </p:cNvPr>
          <p:cNvSpPr>
            <a:spLocks xmlns:a="http://schemas.openxmlformats.org/drawingml/2006/main" noGrp="1"/>
          </p:cNvSpPr>
          <p:nvPr/>
        </p:nvSpPr>
        <p:spPr>
          <a:xfrm xmlns:a="http://schemas.openxmlformats.org/drawingml/2006/main">
            <a:off x="3333750" y="1809750"/>
            <a:ext cx="2476500" cy="2609850"/>
          </a:xfrm>
          <a:prstGeom xmlns:a="http://schemas.openxmlformats.org/drawingml/2006/main" prst="roundRect">
            <a:avLst>
              <a:gd name="adj" fmla="val 4615"/>
            </a:avLst>
          </a:prstGeom>
          <a:solidFill xmlns:a="http://schemas.openxmlformats.org/drawingml/2006/main">
            <a:srgbClr val="F3F5F7"/>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21B9C52-0C30-4D3B-839F-F920B7928578}"/>
              </a:ext>
            </a:extLst>
          </p:cNvPr>
          <p:cNvSpPr>
            <a:spLocks xmlns:a="http://schemas.openxmlformats.org/drawingml/2006/main" noGrp="1"/>
          </p:cNvSpPr>
          <p:nvPr/>
        </p:nvSpPr>
        <p:spPr>
          <a:xfrm xmlns:a="http://schemas.openxmlformats.org/drawingml/2006/main">
            <a:off x="3543300" y="2009775"/>
            <a:ext cx="476250" cy="476250"/>
          </a:xfrm>
          <a:prstGeom xmlns:a="http://schemas.openxmlformats.org/drawingml/2006/main" prst="ellipse">
            <a:avLst/>
          </a:prstGeom>
          <a:solidFill xmlns:a="http://schemas.openxmlformats.org/drawingml/2006/main">
            <a:srgbClr val="1769E0"/>
          </a:solidFill>
          <a:ln xmlns:a="http://schemas.openxmlformats.org/drawingml/2006/main" w="0">
            <a:solidFill>
              <a:srgbClr val="1769E0"/>
            </a:solidFill>
            <a:prstDash val="solid"/>
          </a:ln>
        </p:spPr>
      </p:sp>
      <p:sp>
        <p:nvSpPr>
          <p:cNvPr id="12" name="">
            <a:extLst xmlns:a="http://schemas.openxmlformats.org/drawingml/2006/main">
              <a:ext uri="{FF2B5EF4-FFF2-40B4-BE49-F238E27FC236}">
                <a16:creationId xmlns:a16="http://schemas.microsoft.com/office/drawing/2014/main" id="{AF97F54D-1647-4650-B3FE-890DC42B8C60}"/>
              </a:ext>
            </a:extLst>
          </p:cNvPr>
          <p:cNvSpPr>
            <a:spLocks xmlns:a="http://schemas.openxmlformats.org/drawingml/2006/main" noGrp="1"/>
          </p:cNvSpPr>
          <p:nvPr/>
        </p:nvSpPr>
        <p:spPr>
          <a:xfrm xmlns:a="http://schemas.openxmlformats.org/drawingml/2006/main">
            <a:off x="3543300" y="20097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56D7B65D-601F-4C14-B527-3E080493799C}"/>
              </a:ext>
            </a:extLst>
          </p:cNvPr>
          <p:cNvSpPr>
            <a:spLocks xmlns:a="http://schemas.openxmlformats.org/drawingml/2006/main" noGrp="1"/>
          </p:cNvSpPr>
          <p:nvPr/>
        </p:nvSpPr>
        <p:spPr>
          <a:xfrm xmlns:a="http://schemas.openxmlformats.org/drawingml/2006/main">
            <a:off x="3543300" y="2686050"/>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69E0"/>
                </a:solidFill>
                <a:latin typeface="Arial"/>
                <a:ea typeface="Arial"/>
                <a:cs typeface="Arial"/>
              </a:defRPr>
            </a:pPr>
            <a:r>
              <a:rPr sz="1575" b="1">
                <a:solidFill>
                  <a:srgbClr val="1769E0"/>
                </a:solidFill>
                <a:latin typeface="Arial"/>
                <a:ea typeface="Arial"/>
                <a:cs typeface="Arial"/>
              </a:rPr>
              <a:t>PATEL</a:t>
            </a:r>
          </a:p>
        </p:txBody>
      </p:sp>
      <p:sp>
        <p:nvSpPr>
          <p:cNvPr id="14" name="">
            <a:extLst xmlns:a="http://schemas.openxmlformats.org/drawingml/2006/main">
              <a:ext uri="{FF2B5EF4-FFF2-40B4-BE49-F238E27FC236}">
                <a16:creationId xmlns:a16="http://schemas.microsoft.com/office/drawing/2014/main" id="{7930B013-AA21-4078-BDF0-6122653CF844}"/>
              </a:ext>
            </a:extLst>
          </p:cNvPr>
          <p:cNvSpPr>
            <a:spLocks xmlns:a="http://schemas.openxmlformats.org/drawingml/2006/main" noGrp="1"/>
          </p:cNvSpPr>
          <p:nvPr/>
        </p:nvSpPr>
        <p:spPr>
          <a:xfrm xmlns:a="http://schemas.openxmlformats.org/drawingml/2006/main">
            <a:off x="3543300" y="3114675"/>
            <a:ext cx="205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latin typeface="Arial"/>
                <a:ea typeface="Arial"/>
                <a:cs typeface="Arial"/>
              </a:defRPr>
            </a:pPr>
            <a:r>
              <a:rPr sz="1425" b="1">
                <a:solidFill>
                  <a:srgbClr val="111827"/>
                </a:solidFill>
                <a:latin typeface="Arial"/>
                <a:ea typeface="Arial"/>
                <a:cs typeface="Arial"/>
              </a:rPr>
              <a:t>Barrido de sonda y taps</a:t>
            </a:r>
          </a:p>
        </p:txBody>
      </p:sp>
      <p:sp>
        <p:nvSpPr>
          <p:cNvPr id="15" name="">
            <a:extLst xmlns:a="http://schemas.openxmlformats.org/drawingml/2006/main">
              <a:ext uri="{FF2B5EF4-FFF2-40B4-BE49-F238E27FC236}">
                <a16:creationId xmlns:a16="http://schemas.microsoft.com/office/drawing/2014/main" id="{B24B6340-CDD6-4FE9-9FF7-1C73AD543980}"/>
              </a:ext>
            </a:extLst>
          </p:cNvPr>
          <p:cNvSpPr>
            <a:spLocks xmlns:a="http://schemas.openxmlformats.org/drawingml/2006/main" noGrp="1"/>
          </p:cNvSpPr>
          <p:nvPr/>
        </p:nvSpPr>
        <p:spPr>
          <a:xfrm xmlns:a="http://schemas.openxmlformats.org/drawingml/2006/main">
            <a:off x="3543300" y="3743325"/>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latin typeface="Arial"/>
                <a:ea typeface="Arial"/>
                <a:cs typeface="Arial"/>
              </a:defRPr>
            </a:pPr>
            <a:r>
              <a:rPr sz="1275" b="0">
                <a:solidFill>
                  <a:srgbClr val="5B6472"/>
                </a:solidFill>
                <a:latin typeface="Arial"/>
                <a:ea typeface="Arial"/>
                <a:cs typeface="Arial"/>
              </a:rPr>
              <a:t>Congelar en validación</a:t>
            </a:r>
          </a:p>
        </p:txBody>
      </p:sp>
      <p:sp>
        <p:nvSpPr>
          <p:cNvPr id="16" name="">
            <a:extLst xmlns:a="http://schemas.openxmlformats.org/drawingml/2006/main">
              <a:ext uri="{FF2B5EF4-FFF2-40B4-BE49-F238E27FC236}">
                <a16:creationId xmlns:a16="http://schemas.microsoft.com/office/drawing/2014/main" id="{291F2723-F7D1-419C-9F3B-CC81C6A52BA7}"/>
              </a:ext>
            </a:extLst>
          </p:cNvPr>
          <p:cNvSpPr>
            <a:spLocks xmlns:a="http://schemas.openxmlformats.org/drawingml/2006/main" noGrp="1"/>
          </p:cNvSpPr>
          <p:nvPr/>
        </p:nvSpPr>
        <p:spPr>
          <a:xfrm xmlns:a="http://schemas.openxmlformats.org/drawingml/2006/main">
            <a:off x="6134100" y="1809750"/>
            <a:ext cx="2476500" cy="2609850"/>
          </a:xfrm>
          <a:prstGeom xmlns:a="http://schemas.openxmlformats.org/drawingml/2006/main" prst="roundRect">
            <a:avLst>
              <a:gd name="adj" fmla="val 4615"/>
            </a:avLst>
          </a:prstGeom>
          <a:solidFill xmlns:a="http://schemas.openxmlformats.org/drawingml/2006/main">
            <a:srgbClr val="F3F5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91AE544-DCC9-40B0-A4F0-576278FDDB44}"/>
              </a:ext>
            </a:extLst>
          </p:cNvPr>
          <p:cNvSpPr>
            <a:spLocks xmlns:a="http://schemas.openxmlformats.org/drawingml/2006/main" noGrp="1"/>
          </p:cNvSpPr>
          <p:nvPr/>
        </p:nvSpPr>
        <p:spPr>
          <a:xfrm xmlns:a="http://schemas.openxmlformats.org/drawingml/2006/main">
            <a:off x="6343650" y="2009775"/>
            <a:ext cx="476250" cy="476250"/>
          </a:xfrm>
          <a:prstGeom xmlns:a="http://schemas.openxmlformats.org/drawingml/2006/main" prst="ellipse">
            <a:avLst/>
          </a:prstGeom>
          <a:solidFill xmlns:a="http://schemas.openxmlformats.org/drawingml/2006/main">
            <a:srgbClr val="1769E0"/>
          </a:solidFill>
          <a:ln xmlns:a="http://schemas.openxmlformats.org/drawingml/2006/main" w="0">
            <a:solidFill>
              <a:srgbClr val="1769E0"/>
            </a:solidFill>
            <a:prstDash val="solid"/>
          </a:ln>
        </p:spPr>
      </p:sp>
      <p:sp>
        <p:nvSpPr>
          <p:cNvPr id="18" name="">
            <a:extLst xmlns:a="http://schemas.openxmlformats.org/drawingml/2006/main">
              <a:ext uri="{FF2B5EF4-FFF2-40B4-BE49-F238E27FC236}">
                <a16:creationId xmlns:a16="http://schemas.microsoft.com/office/drawing/2014/main" id="{1118FA53-5F40-4543-9313-880EE5B3A363}"/>
              </a:ext>
            </a:extLst>
          </p:cNvPr>
          <p:cNvSpPr>
            <a:spLocks xmlns:a="http://schemas.openxmlformats.org/drawingml/2006/main" noGrp="1"/>
          </p:cNvSpPr>
          <p:nvPr/>
        </p:nvSpPr>
        <p:spPr>
          <a:xfrm xmlns:a="http://schemas.openxmlformats.org/drawingml/2006/main">
            <a:off x="6343650" y="20097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A58AFD52-E2BB-4722-8C85-2B41A120E98B}"/>
              </a:ext>
            </a:extLst>
          </p:cNvPr>
          <p:cNvSpPr>
            <a:spLocks xmlns:a="http://schemas.openxmlformats.org/drawingml/2006/main" noGrp="1"/>
          </p:cNvSpPr>
          <p:nvPr/>
        </p:nvSpPr>
        <p:spPr>
          <a:xfrm xmlns:a="http://schemas.openxmlformats.org/drawingml/2006/main">
            <a:off x="6343650" y="2686050"/>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69E0"/>
                </a:solidFill>
                <a:latin typeface="Arial"/>
                <a:ea typeface="Arial"/>
                <a:cs typeface="Arial"/>
              </a:defRPr>
            </a:pPr>
            <a:r>
              <a:rPr sz="1575" b="1">
                <a:solidFill>
                  <a:srgbClr val="1769E0"/>
                </a:solidFill>
                <a:latin typeface="Arial"/>
                <a:ea typeface="Arial"/>
                <a:cs typeface="Arial"/>
              </a:rPr>
              <a:t>ML + ONNX</a:t>
            </a:r>
          </a:p>
        </p:txBody>
      </p:sp>
      <p:sp>
        <p:nvSpPr>
          <p:cNvPr id="20" name="">
            <a:extLst xmlns:a="http://schemas.openxmlformats.org/drawingml/2006/main">
              <a:ext uri="{FF2B5EF4-FFF2-40B4-BE49-F238E27FC236}">
                <a16:creationId xmlns:a16="http://schemas.microsoft.com/office/drawing/2014/main" id="{DAEA8011-D276-4A9B-B4A5-829E3327DA8D}"/>
              </a:ext>
            </a:extLst>
          </p:cNvPr>
          <p:cNvSpPr>
            <a:spLocks xmlns:a="http://schemas.openxmlformats.org/drawingml/2006/main" noGrp="1"/>
          </p:cNvSpPr>
          <p:nvPr/>
        </p:nvSpPr>
        <p:spPr>
          <a:xfrm xmlns:a="http://schemas.openxmlformats.org/drawingml/2006/main">
            <a:off x="6343650" y="3114675"/>
            <a:ext cx="205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latin typeface="Arial"/>
                <a:ea typeface="Arial"/>
                <a:cs typeface="Arial"/>
              </a:defRPr>
            </a:pPr>
            <a:r>
              <a:rPr sz="1425" b="1">
                <a:solidFill>
                  <a:srgbClr val="111827"/>
                </a:solidFill>
                <a:latin typeface="Arial"/>
                <a:ea typeface="Arial"/>
                <a:cs typeface="Arial"/>
              </a:rPr>
              <a:t>MLP · GRU · DeepMFC</a:t>
            </a:r>
          </a:p>
        </p:txBody>
      </p:sp>
      <p:sp>
        <p:nvSpPr>
          <p:cNvPr id="21" name="">
            <a:extLst xmlns:a="http://schemas.openxmlformats.org/drawingml/2006/main">
              <a:ext uri="{FF2B5EF4-FFF2-40B4-BE49-F238E27FC236}">
                <a16:creationId xmlns:a16="http://schemas.microsoft.com/office/drawing/2014/main" id="{1CA85C43-BDF7-4E98-8FF7-D0641C29BA73}"/>
              </a:ext>
            </a:extLst>
          </p:cNvPr>
          <p:cNvSpPr>
            <a:spLocks xmlns:a="http://schemas.openxmlformats.org/drawingml/2006/main" noGrp="1"/>
          </p:cNvSpPr>
          <p:nvPr/>
        </p:nvSpPr>
        <p:spPr>
          <a:xfrm xmlns:a="http://schemas.openxmlformats.org/drawingml/2006/main">
            <a:off x="6343650" y="3743325"/>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latin typeface="Arial"/>
                <a:ea typeface="Arial"/>
                <a:cs typeface="Arial"/>
              </a:defRPr>
            </a:pPr>
            <a:r>
              <a:rPr sz="1275" b="0">
                <a:solidFill>
                  <a:srgbClr val="5B6472"/>
                </a:solidFill>
                <a:latin typeface="Arial"/>
                <a:ea typeface="Arial"/>
                <a:cs typeface="Arial"/>
              </a:rPr>
              <a:t>Frontera calidad–coste</a:t>
            </a:r>
          </a:p>
        </p:txBody>
      </p:sp>
      <p:sp>
        <p:nvSpPr>
          <p:cNvPr id="22" name="">
            <a:extLst xmlns:a="http://schemas.openxmlformats.org/drawingml/2006/main">
              <a:ext uri="{FF2B5EF4-FFF2-40B4-BE49-F238E27FC236}">
                <a16:creationId xmlns:a16="http://schemas.microsoft.com/office/drawing/2014/main" id="{5D3606DD-8402-4054-A863-B9FEEE89459C}"/>
              </a:ext>
            </a:extLst>
          </p:cNvPr>
          <p:cNvSpPr>
            <a:spLocks xmlns:a="http://schemas.openxmlformats.org/drawingml/2006/main" noGrp="1"/>
          </p:cNvSpPr>
          <p:nvPr/>
        </p:nvSpPr>
        <p:spPr>
          <a:xfrm xmlns:a="http://schemas.openxmlformats.org/drawingml/2006/main">
            <a:off x="8934450" y="1809750"/>
            <a:ext cx="2476500" cy="2609850"/>
          </a:xfrm>
          <a:prstGeom xmlns:a="http://schemas.openxmlformats.org/drawingml/2006/main" prst="roundRect">
            <a:avLst>
              <a:gd name="adj" fmla="val 4615"/>
            </a:avLst>
          </a:prstGeom>
          <a:solidFill xmlns:a="http://schemas.openxmlformats.org/drawingml/2006/main">
            <a:srgbClr val="DCEE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103400A-EF88-4D1B-B6DF-C6697B749D2C}"/>
              </a:ext>
            </a:extLst>
          </p:cNvPr>
          <p:cNvSpPr>
            <a:spLocks xmlns:a="http://schemas.openxmlformats.org/drawingml/2006/main" noGrp="1"/>
          </p:cNvSpPr>
          <p:nvPr/>
        </p:nvSpPr>
        <p:spPr>
          <a:xfrm xmlns:a="http://schemas.openxmlformats.org/drawingml/2006/main">
            <a:off x="9144000" y="2009775"/>
            <a:ext cx="476250" cy="476250"/>
          </a:xfrm>
          <a:prstGeom xmlns:a="http://schemas.openxmlformats.org/drawingml/2006/main" prst="ellipse">
            <a:avLst/>
          </a:prstGeom>
          <a:solidFill xmlns:a="http://schemas.openxmlformats.org/drawingml/2006/main">
            <a:srgbClr val="16845B"/>
          </a:solidFill>
          <a:ln xmlns:a="http://schemas.openxmlformats.org/drawingml/2006/main" w="0">
            <a:solidFill>
              <a:srgbClr val="16845B"/>
            </a:solidFill>
            <a:prstDash val="solid"/>
          </a:ln>
        </p:spPr>
      </p:sp>
      <p:sp>
        <p:nvSpPr>
          <p:cNvPr id="24" name="">
            <a:extLst xmlns:a="http://schemas.openxmlformats.org/drawingml/2006/main">
              <a:ext uri="{FF2B5EF4-FFF2-40B4-BE49-F238E27FC236}">
                <a16:creationId xmlns:a16="http://schemas.microsoft.com/office/drawing/2014/main" id="{8999FDA0-BEDB-4227-AD87-3510ACF11102}"/>
              </a:ext>
            </a:extLst>
          </p:cNvPr>
          <p:cNvSpPr>
            <a:spLocks xmlns:a="http://schemas.openxmlformats.org/drawingml/2006/main" noGrp="1"/>
          </p:cNvSpPr>
          <p:nvPr/>
        </p:nvSpPr>
        <p:spPr>
          <a:xfrm xmlns:a="http://schemas.openxmlformats.org/drawingml/2006/main">
            <a:off x="9144000" y="20097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5" name="">
            <a:extLst xmlns:a="http://schemas.openxmlformats.org/drawingml/2006/main">
              <a:ext uri="{FF2B5EF4-FFF2-40B4-BE49-F238E27FC236}">
                <a16:creationId xmlns:a16="http://schemas.microsoft.com/office/drawing/2014/main" id="{4DB9E9B5-CC71-4065-A96C-3EF41FC36E1F}"/>
              </a:ext>
            </a:extLst>
          </p:cNvPr>
          <p:cNvSpPr>
            <a:spLocks xmlns:a="http://schemas.openxmlformats.org/drawingml/2006/main" noGrp="1"/>
          </p:cNvSpPr>
          <p:nvPr/>
        </p:nvSpPr>
        <p:spPr>
          <a:xfrm xmlns:a="http://schemas.openxmlformats.org/drawingml/2006/main">
            <a:off x="9144000" y="2686050"/>
            <a:ext cx="2057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1769E0"/>
                </a:solidFill>
                <a:latin typeface="Arial"/>
                <a:ea typeface="Arial"/>
                <a:cs typeface="Arial"/>
              </a:defRPr>
            </a:pPr>
            <a:r>
              <a:rPr sz="1575" b="1">
                <a:solidFill>
                  <a:srgbClr val="1769E0"/>
                </a:solidFill>
                <a:latin typeface="Arial"/>
                <a:ea typeface="Arial"/>
                <a:cs typeface="Arial"/>
              </a:rPr>
              <a:t>RASPBERRY PI 4</a:t>
            </a:r>
          </a:p>
        </p:txBody>
      </p:sp>
      <p:sp>
        <p:nvSpPr>
          <p:cNvPr id="26" name="">
            <a:extLst xmlns:a="http://schemas.openxmlformats.org/drawingml/2006/main">
              <a:ext uri="{FF2B5EF4-FFF2-40B4-BE49-F238E27FC236}">
                <a16:creationId xmlns:a16="http://schemas.microsoft.com/office/drawing/2014/main" id="{9DF765FF-36BC-445D-AAEF-CA3F57FFF749}"/>
              </a:ext>
            </a:extLst>
          </p:cNvPr>
          <p:cNvSpPr>
            <a:spLocks xmlns:a="http://schemas.openxmlformats.org/drawingml/2006/main" noGrp="1"/>
          </p:cNvSpPr>
          <p:nvPr/>
        </p:nvSpPr>
        <p:spPr>
          <a:xfrm xmlns:a="http://schemas.openxmlformats.org/drawingml/2006/main">
            <a:off x="9144000" y="3114675"/>
            <a:ext cx="2057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111827"/>
                </a:solidFill>
                <a:latin typeface="Arial"/>
                <a:ea typeface="Arial"/>
                <a:cs typeface="Arial"/>
              </a:defRPr>
            </a:pPr>
            <a:r>
              <a:rPr sz="1425" b="1">
                <a:solidFill>
                  <a:srgbClr val="111827"/>
                </a:solidFill>
                <a:latin typeface="Arial"/>
                <a:ea typeface="Arial"/>
                <a:cs typeface="Arial"/>
              </a:rPr>
              <a:t>64 / 128 / 256 muestras</a:t>
            </a:r>
          </a:p>
        </p:txBody>
      </p:sp>
      <p:sp>
        <p:nvSpPr>
          <p:cNvPr id="27" name="">
            <a:extLst xmlns:a="http://schemas.openxmlformats.org/drawingml/2006/main">
              <a:ext uri="{FF2B5EF4-FFF2-40B4-BE49-F238E27FC236}">
                <a16:creationId xmlns:a16="http://schemas.microsoft.com/office/drawing/2014/main" id="{42ECEB34-F96E-4F7A-9D6B-407818CC3269}"/>
              </a:ext>
            </a:extLst>
          </p:cNvPr>
          <p:cNvSpPr>
            <a:spLocks xmlns:a="http://schemas.openxmlformats.org/drawingml/2006/main" noGrp="1"/>
          </p:cNvSpPr>
          <p:nvPr/>
        </p:nvSpPr>
        <p:spPr>
          <a:xfrm xmlns:a="http://schemas.openxmlformats.org/drawingml/2006/main">
            <a:off x="9144000" y="3743325"/>
            <a:ext cx="2057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5B6472"/>
                </a:solidFill>
                <a:latin typeface="Arial"/>
                <a:ea typeface="Arial"/>
                <a:cs typeface="Arial"/>
              </a:defRPr>
            </a:pPr>
            <a:r>
              <a:rPr sz="1275" b="0">
                <a:solidFill>
                  <a:srgbClr val="5B6472"/>
                </a:solidFill>
                <a:latin typeface="Arial"/>
                <a:ea typeface="Arial"/>
                <a:cs typeface="Arial"/>
              </a:rPr>
              <a:t>30 min sin xruns</a:t>
            </a:r>
          </a:p>
        </p:txBody>
      </p:sp>
      <p:sp>
        <p:nvSpPr>
          <p:cNvPr id="28" name="">
            <a:extLst xmlns:a="http://schemas.openxmlformats.org/drawingml/2006/main">
              <a:ext uri="{FF2B5EF4-FFF2-40B4-BE49-F238E27FC236}">
                <a16:creationId xmlns:a16="http://schemas.microsoft.com/office/drawing/2014/main" id="{F44062C4-936E-4D98-A253-428180260329}"/>
              </a:ext>
            </a:extLst>
          </p:cNvPr>
          <p:cNvSpPr>
            <a:spLocks xmlns:a="http://schemas.openxmlformats.org/drawingml/2006/main" noGrp="1"/>
          </p:cNvSpPr>
          <p:nvPr/>
        </p:nvSpPr>
        <p:spPr>
          <a:xfrm xmlns:a="http://schemas.openxmlformats.org/drawingml/2006/main">
            <a:off x="533400" y="4848225"/>
            <a:ext cx="10820400" cy="1104900"/>
          </a:xfrm>
          <a:prstGeom xmlns:a="http://schemas.openxmlformats.org/drawingml/2006/main" prst="roundRect">
            <a:avLst>
              <a:gd name="adj" fmla="val 10345"/>
            </a:avLst>
          </a:prstGeom>
          <a:solidFill xmlns:a="http://schemas.openxmlformats.org/drawingml/2006/main">
            <a:srgbClr val="111827"/>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76CD1A4-DF92-40D2-961B-53084C90EBEE}"/>
              </a:ext>
            </a:extLst>
          </p:cNvPr>
          <p:cNvSpPr>
            <a:spLocks xmlns:a="http://schemas.openxmlformats.org/drawingml/2006/main" noGrp="1"/>
          </p:cNvSpPr>
          <p:nvPr/>
        </p:nvSpPr>
        <p:spPr>
          <a:xfrm xmlns:a="http://schemas.openxmlformats.org/drawingml/2006/main">
            <a:off x="781050" y="49911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55C3F0"/>
                </a:solidFill>
                <a:latin typeface="Arial"/>
                <a:ea typeface="Arial"/>
                <a:cs typeface="Arial"/>
              </a:defRPr>
            </a:pPr>
            <a:r>
              <a:rPr sz="1275" b="1">
                <a:solidFill>
                  <a:srgbClr val="55C3F0"/>
                </a:solidFill>
                <a:latin typeface="Arial"/>
                <a:ea typeface="Arial"/>
                <a:cs typeface="Arial"/>
              </a:rPr>
              <a:t>APORTE DE LA TESIS</a:t>
            </a:r>
          </a:p>
        </p:txBody>
      </p:sp>
      <p:sp>
        <p:nvSpPr>
          <p:cNvPr id="30" name="">
            <a:extLst xmlns:a="http://schemas.openxmlformats.org/drawingml/2006/main">
              <a:ext uri="{FF2B5EF4-FFF2-40B4-BE49-F238E27FC236}">
                <a16:creationId xmlns:a16="http://schemas.microsoft.com/office/drawing/2014/main" id="{2E868B3C-9F67-4932-9302-3943D257A43F}"/>
              </a:ext>
            </a:extLst>
          </p:cNvPr>
          <p:cNvSpPr>
            <a:spLocks xmlns:a="http://schemas.openxmlformats.org/drawingml/2006/main" noGrp="1"/>
          </p:cNvSpPr>
          <p:nvPr/>
        </p:nvSpPr>
        <p:spPr>
          <a:xfrm xmlns:a="http://schemas.openxmlformats.org/drawingml/2006/main">
            <a:off x="781050" y="5257800"/>
            <a:ext cx="100488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Una comparación reproducible entre estabilidad, calidad, latencia y coste — incluso si ML no supera a Patel.</a:t>
            </a:r>
          </a:p>
        </p:txBody>
      </p:sp>
    </p:spTree>
    <p:extLst>
      <p:ext uri="{BB962C8B-B14F-4D97-AF65-F5344CB8AC3E}">
        <p14:creationId xmlns:p14="http://schemas.microsoft.com/office/powerpoint/2010/main" val="421801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2026-08-26T22:54:16.0450000Z</dcterms:created>
  <dcterms:modified xsi:type="dcterms:W3CDTF">2026-08-26T22:54:16.0450000Z</dcterms:modified>
</coreProperties>
</file>